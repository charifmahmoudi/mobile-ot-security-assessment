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customer outcome and the low-friction commercial model.
Do not open with technical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pilot, not on the acquisition.
The acquisition decision comes after the customer has used the appliance.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2457D6"/>
                </a:solidFill>
              </a:rPr>
              <a:t>ATLAS OT SCOUT  /  P0-WATER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5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21792"/>
            <a:ext cx="2606040" cy="310896"/>
          </a:xfrm>
          <a:prstGeom prst="roundRect">
            <a:avLst>
              <a:gd name="adj" fmla="val 23529"/>
            </a:avLst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685800"/>
            <a:ext cx="2569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 · TRY BEFORE YOU BUY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what is really on your OT segment —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whether Atlas is worth keeping.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685800" y="2999232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EDF3FF"/>
                </a:solidFill>
              </a:rPr>
              <a:t>Atlas OT Scout is a guided, offline assessment appliance for water and wastewater teams. We deliver it, help you run a bounded pilot, leave it with you, and let your own experience decide the purchase.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85800" y="4334256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5537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57D6"/>
                </a:solidFill>
              </a:rPr>
              <a:t>Current state → guided evidence → desired state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49640" y="749808"/>
            <a:ext cx="2697480" cy="5212080"/>
          </a:xfrm>
          <a:prstGeom prst="roundRect">
            <a:avLst>
              <a:gd name="adj" fmla="val 4746"/>
            </a:avLst>
          </a:prstGeom>
          <a:solidFill>
            <a:srgbClr val="2457D6"/>
          </a:solidFill>
          <a:ln w="15240">
            <a:solidFill>
              <a:srgbClr val="2457D6"/>
            </a:solidFill>
            <a:prstDash val="solid"/>
          </a:ln>
          <a:effectLst>
            <a:outerShdw sx="100000" sy="100000" kx="0" ky="0" algn="bl" rotWithShape="0" blurRad="25400" dist="50800" dir="2700000">
              <a:srgbClr val="2457D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14232" y="950976"/>
            <a:ext cx="2368296" cy="4709160"/>
          </a:xfrm>
          <a:prstGeom prst="roundRect">
            <a:avLst>
              <a:gd name="adj" fmla="val 3089"/>
            </a:avLst>
          </a:prstGeom>
          <a:solidFill>
            <a:srgbClr val="FFFFFF"/>
          </a:solidFill>
          <a:ln w="8890">
            <a:solidFill>
              <a:srgbClr val="2457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14232" y="950976"/>
            <a:ext cx="2368296" cy="20116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101498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933688" y="1709928"/>
            <a:ext cx="1929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APPLIANCE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43516" y="5760720"/>
            <a:ext cx="109728" cy="109728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89788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457D6"/>
                </a:solidFill>
              </a:rPr>
              <a:t>NO CLOUD  ·  PASSIVE FIRST  ·  BOUNDED ACTIVE CHECKS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customer problem is not “lack of a scanner.”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It is the gap between what the organization thinks is on the segment and what it can actually defend today.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9436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01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Inventory exists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2457D6"/>
                </a:solidFill>
              </a:rPr>
              <a:t>But it may be stale, incomplete or inconsistent across spreadsheets, diagrams and field reality.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02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708660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Visibility is fragmented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1908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2457D6"/>
                </a:solidFill>
              </a:rPr>
              <a:t>Passive evidence, physical checks and device identity data live in different tools and notes.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9436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1DB"/>
          </a:solidFill>
          <a:ln w="12700">
            <a:solidFill>
              <a:srgbClr val="AA5210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9552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AA5210"/>
          </a:solidFill>
          <a:ln w="12700">
            <a:solidFill>
              <a:srgbClr val="AA52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03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46304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OT cannot be treated like 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552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2457D6"/>
                </a:solidFill>
              </a:rPr>
              <a:t>Broad discovery or uncontrolled probing can be inappropriate on a live process segment.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21792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04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708660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The final decision is still manual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2457D6"/>
                </a:solidFill>
              </a:rPr>
              <a:t>Teams must decide what is known, what changed, what matters and what is still missing.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612648" y="5650992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607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2457D6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2075688" y="5751576"/>
            <a:ext cx="9235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real need is a trustworthy operating picture, not a bigger packet count.</a:t>
            </a:r>
            <a:endParaRPr lang="en-US" sz="1140" dirty="0"/>
          </a:p>
        </p:txBody>
      </p:sp>
      <p:sp>
        <p:nvSpPr>
          <p:cNvPr id="27" name="Text 25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desired state is simple: know, explain, act.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A good assessment leaves the customer with a defensible baseline and an explicit list of what still needs work.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58368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AA5210"/>
                </a:solidFill>
              </a:rPr>
              <a:t>CURRENT STATE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92240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167A5A"/>
                </a:solidFill>
              </a:rPr>
              <a:t>DESIRED STATE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205740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1DB"/>
          </a:solidFill>
          <a:ln w="12700">
            <a:solidFill>
              <a:srgbClr val="AA5210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1854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Expected assets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8880" y="218541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Records and diagrams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92608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1DB"/>
          </a:solidFill>
          <a:ln w="12700">
            <a:solidFill>
              <a:srgbClr val="AA5210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5409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Observed reality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30540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Partial / ad-hoc evidence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379476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1DB"/>
          </a:solidFill>
          <a:ln w="12700">
            <a:solidFill>
              <a:srgbClr val="AA5210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922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Unknowns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92277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Mixed into analyst notes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466344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1DB"/>
          </a:solidFill>
          <a:ln w="12700">
            <a:solidFill>
              <a:srgbClr val="AA5210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7914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Next action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479145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Depends on who is reviewing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205740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93408" y="21854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Evidence-backed baseline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18541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Expected ↔ observed ↔ confirmed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92240" y="292608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93408" y="30540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Known limitations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0540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Visibility and confidence stay explicit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379476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93408" y="392277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Prioritized follow-up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49640" y="392277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Findings tied to evidence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466344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93408" y="47914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57D6"/>
                </a:solidFill>
              </a:rPr>
              <a:t>Repeatable method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479145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The appliance stays available for the next case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522976" y="3291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457D6"/>
                </a:solidFill>
              </a:rPr>
              <a:t>→</a:t>
            </a:r>
            <a:endParaRPr lang="en-US" sz="3000" dirty="0"/>
          </a:p>
        </p:txBody>
      </p:sp>
      <p:sp>
        <p:nvSpPr>
          <p:cNvPr id="31" name="Shape 29"/>
          <p:cNvSpPr/>
          <p:nvPr/>
        </p:nvSpPr>
        <p:spPr>
          <a:xfrm>
            <a:off x="658368" y="5724144"/>
            <a:ext cx="10808208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8338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3" name="Text 31"/>
          <p:cNvSpPr/>
          <p:nvPr/>
        </p:nvSpPr>
        <p:spPr>
          <a:xfrm>
            <a:off x="2121408" y="5824728"/>
            <a:ext cx="9162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Confidence improves because every conclusion stays connected to evidence, scope and review — and missing evidence stays visible.</a:t>
            </a:r>
            <a:endParaRPr lang="en-US" sz="1140" dirty="0"/>
          </a:p>
        </p:txBody>
      </p:sp>
      <p:sp>
        <p:nvSpPr>
          <p:cNvPr id="34" name="Text 32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do not need to commit before you know whether the appliance helps.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Our commercial model is intentionally low-friction: use the capability first, then decide.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841248" y="1691640"/>
            <a:ext cx="2240280" cy="4251960"/>
          </a:xfrm>
          <a:prstGeom prst="roundRect">
            <a:avLst>
              <a:gd name="adj" fmla="val 5714"/>
            </a:avLst>
          </a:prstGeom>
          <a:solidFill>
            <a:srgbClr val="2457D6"/>
          </a:solidFill>
          <a:ln w="15240">
            <a:solidFill>
              <a:srgbClr val="2457D6"/>
            </a:solidFill>
            <a:prstDash val="solid"/>
          </a:ln>
          <a:effectLst>
            <a:outerShdw sx="100000" sy="100000" kx="0" ky="0" algn="bl" rotWithShape="0" blurRad="25400" dist="50800" dir="2700000">
              <a:srgbClr val="2457D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92808"/>
            <a:ext cx="1911096" cy="3749040"/>
          </a:xfrm>
          <a:prstGeom prst="roundRect">
            <a:avLst>
              <a:gd name="adj" fmla="val 3828"/>
            </a:avLst>
          </a:prstGeom>
          <a:solidFill>
            <a:srgbClr val="FFFFFF"/>
          </a:solidFill>
          <a:ln w="8890">
            <a:solidFill>
              <a:srgbClr val="2457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892808"/>
            <a:ext cx="1911096" cy="20116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1288" y="195681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225296" y="2651760"/>
            <a:ext cx="1472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APPLIANCE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06524" y="5742432"/>
            <a:ext cx="109728" cy="109728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1975104"/>
            <a:ext cx="438912" cy="438912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16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251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D6"/>
                </a:solidFill>
              </a:rPr>
              <a:t>We deliver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216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A configured Atlas appliance for the agreed pilot scope.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07808" y="1975104"/>
            <a:ext cx="438912" cy="438912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078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13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D6"/>
                </a:solidFill>
              </a:rPr>
              <a:t>You use 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078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We guide the first bounded assessment, then leave the device with your team.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204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21608" y="3941064"/>
            <a:ext cx="438912" cy="438912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216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51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D6"/>
                </a:solidFill>
              </a:rPr>
              <a:t>You decide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7216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Like the capability? Acquire it. Not useful? We pick it up.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066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07808" y="3941064"/>
            <a:ext cx="438912" cy="438912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078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113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57D6"/>
                </a:solidFill>
              </a:rPr>
              <a:t>We support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6078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57D6"/>
                </a:solidFill>
              </a:rPr>
              <a:t>Add consulting, onboarding, review or support packages only when needed.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529584" y="5733288"/>
            <a:ext cx="7699248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94176" y="584301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2457D6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92624" y="5833872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customer learns the value on its own network before making a purchase decision.</a:t>
            </a:r>
            <a:endParaRPr lang="en-US" sz="1140" dirty="0"/>
          </a:p>
        </p:txBody>
      </p:sp>
      <p:sp>
        <p:nvSpPr>
          <p:cNvPr id="33" name="Text 3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Commercial model · free pilot → acquire or return → optional consulting/support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Atlas guides the customer from uncertainty to a defensible decision.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application is organized around the decisions the operator must make — not around a list of scanning features.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2212848"/>
            <a:ext cx="457200" cy="457200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57D6"/>
                </a:solidFill>
              </a:rPr>
              <a:t>Scope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67512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What exact site, process area and decision are we supporting?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2587752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16352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80944" y="2212848"/>
            <a:ext cx="457200" cy="457200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80944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57D6"/>
                </a:solidFill>
              </a:rPr>
              <a:t>Collect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980944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What is the least intrusive evidence that can close the gap?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4901184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29784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94376" y="2212848"/>
            <a:ext cx="457200" cy="457200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4376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94376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57D6"/>
                </a:solidFill>
              </a:rPr>
              <a:t>Review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294376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Which observations are strong enough to accept?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7214616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443216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07808" y="2212848"/>
            <a:ext cx="457200" cy="457200"/>
          </a:xfrm>
          <a:prstGeom prst="ellipse">
            <a:avLst/>
          </a:prstGeom>
          <a:solidFill>
            <a:srgbClr val="AA5210"/>
          </a:solidFill>
          <a:ln w="12700">
            <a:solidFill>
              <a:srgbClr val="AA521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07808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07808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57D6"/>
                </a:solidFill>
              </a:rPr>
              <a:t>Reason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7607808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What changed, what conflicts and what needs follow-up?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9528048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56648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21240" y="2212848"/>
            <a:ext cx="457200" cy="457200"/>
          </a:xfrm>
          <a:prstGeom prst="ellipse">
            <a:avLst/>
          </a:prstGeom>
          <a:solidFill>
            <a:srgbClr val="167A5A"/>
          </a:solidFill>
          <a:ln w="12700">
            <a:solidFill>
              <a:srgbClr val="167A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921240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57D6"/>
                </a:solidFill>
              </a:rPr>
              <a:t>Handoff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921240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What is ready to sign off — and what is still blocked?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051560" y="5413248"/>
            <a:ext cx="10058400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16152" y="552297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2514600" y="5513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workflow tells the operator what to do next and why — while preserving scope, safety and analyst judgment.</a:t>
            </a:r>
            <a:endParaRPr lang="en-US" sz="1140" dirty="0"/>
          </a:p>
        </p:txBody>
      </p:sp>
      <p:sp>
        <p:nvSpPr>
          <p:cNvPr id="36" name="Text 34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story: North Water Treatment Plant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site has an expected inventory but one unresolved identity. The goal is to establish a current, defensible picture without broad discovery.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58368" y="1737360"/>
            <a:ext cx="7452360" cy="41879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22208" y="1691640"/>
            <a:ext cx="3063240" cy="42519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59952" y="193852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0" y="2002536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THE QUESTION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8759952" y="2542032"/>
            <a:ext cx="2542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57D6"/>
                </a:solidFill>
              </a:rPr>
              <a:t>“Can we prove what is actually on this segment — and what still needs attention — without turning the assessment into a broad scan?”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759952" y="4224528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24544" y="4151376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2457D6"/>
                </a:solidFill>
              </a:rPr>
              <a:t>Watch the same problem move through scope, passive evidence, review, one bounded identity check and report readiness.</a:t>
            </a:r>
            <a:endParaRPr lang="en-US" sz="1010" dirty="0"/>
          </a:p>
        </p:txBody>
      </p:sp>
      <p:sp>
        <p:nvSpPr>
          <p:cNvPr id="12" name="Text 9"/>
          <p:cNvSpPr/>
          <p:nvPr/>
        </p:nvSpPr>
        <p:spPr>
          <a:xfrm>
            <a:off x="8759952" y="532180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457D6"/>
                </a:solidFill>
              </a:rPr>
              <a:t>Video is embedded in the PowerPoint.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Actual Android emulator user story · explanatory overlays added for the prospect narrative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 — start passive and make the safest useful observation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Atlas guides the operator to the least intrusive evidence source before any active behavior is considered.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12648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1942186" cy="43159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3776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Choose the method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27632"/>
            <a:ext cx="1942186" cy="43159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Verify receive-only capture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989320" y="1737360"/>
            <a:ext cx="5486400" cy="4242816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91072" y="198424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1DB"/>
          </a:solidFill>
          <a:ln w="12700">
            <a:solidFill>
              <a:srgbClr val="FFF1D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04825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A5210"/>
                </a:solidFill>
              </a:rPr>
              <a:t>CUSTOMER PROBLEM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291072" y="2542032"/>
            <a:ext cx="4663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“I need a current communication picture, but I do not want a broad scan touching the process.”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309360" y="3666744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59359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The app explains which method answers which question.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309360" y="4233672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73952" y="416052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SPAN / TAP is presented as the passive-first path.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09360" y="4800600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73952" y="472744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The appliance verifies the dedicated capture boundary before starting.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291072" y="5422392"/>
            <a:ext cx="4645152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55321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754112" y="5522976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customer gets useful visibility without making broad discovery the default.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 — evidence is reviewed before it changes the inventory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product separates “what was observed” from “what the customer is ready to accept as true.”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13232" y="1545336"/>
            <a:ext cx="2157070" cy="4681728"/>
          </a:xfrm>
          <a:prstGeom prst="roundRect">
            <a:avLst>
              <a:gd name="adj" fmla="val 3391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591056"/>
            <a:ext cx="2065630" cy="45902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6272784"/>
            <a:ext cx="23948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Passive evidence review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822192" y="1719072"/>
            <a:ext cx="75895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33088" y="196596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51376" y="202996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GUIDED REVIEW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4133088" y="2496312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The capture produced four observed assets. Atlas does not silently turn them into inventory records.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160520" y="3273552"/>
            <a:ext cx="292608" cy="292608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60520" y="33192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90288" y="32461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457D6"/>
                </a:solidFill>
              </a:rPr>
              <a:t>Evidence stays attributable</a:t>
            </a:r>
            <a:endParaRPr lang="en-US" sz="1120" dirty="0"/>
          </a:p>
        </p:txBody>
      </p:sp>
      <p:sp>
        <p:nvSpPr>
          <p:cNvPr id="14" name="Text 11"/>
          <p:cNvSpPr/>
          <p:nvPr/>
        </p:nvSpPr>
        <p:spPr>
          <a:xfrm>
            <a:off x="6419088" y="3246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457D6"/>
                </a:solidFill>
              </a:rPr>
              <a:t>Hash, capture window, packet counts and method remain visible.</a:t>
            </a:r>
            <a:endParaRPr lang="en-US" sz="1040" dirty="0"/>
          </a:p>
        </p:txBody>
      </p:sp>
      <p:sp>
        <p:nvSpPr>
          <p:cNvPr id="15" name="Shape 12"/>
          <p:cNvSpPr/>
          <p:nvPr/>
        </p:nvSpPr>
        <p:spPr>
          <a:xfrm>
            <a:off x="4160520" y="3959352"/>
            <a:ext cx="292608" cy="292608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60520" y="40050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90288" y="39319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457D6"/>
                </a:solidFill>
              </a:rPr>
              <a:t>Confidence stays visible</a:t>
            </a:r>
            <a:endParaRPr lang="en-US" sz="1120" dirty="0"/>
          </a:p>
        </p:txBody>
      </p:sp>
      <p:sp>
        <p:nvSpPr>
          <p:cNvPr id="18" name="Text 15"/>
          <p:cNvSpPr/>
          <p:nvPr/>
        </p:nvSpPr>
        <p:spPr>
          <a:xfrm>
            <a:off x="6419088" y="3931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457D6"/>
                </a:solidFill>
              </a:rPr>
              <a:t>Role / identity inference is shown as evidence, not certainty.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160520" y="4645152"/>
            <a:ext cx="292608" cy="292608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60520" y="46908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90288" y="4617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457D6"/>
                </a:solidFill>
              </a:rPr>
              <a:t>The analyst decides</a:t>
            </a:r>
            <a:endParaRPr lang="en-US" sz="1120" dirty="0"/>
          </a:p>
        </p:txBody>
      </p:sp>
      <p:sp>
        <p:nvSpPr>
          <p:cNvPr id="22" name="Text 19"/>
          <p:cNvSpPr/>
          <p:nvPr/>
        </p:nvSpPr>
        <p:spPr>
          <a:xfrm>
            <a:off x="6419088" y="46177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2457D6"/>
                </a:solidFill>
              </a:rPr>
              <a:t>Only explicitly accepted observations can enter the reviewed inventory.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4133088" y="5449824"/>
            <a:ext cx="6812280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97680" y="555955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5596128" y="55504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customer reduces false assumptions because observations cannot silently become “truth.”</a:t>
            </a:r>
            <a:endParaRPr lang="en-US" sz="1140" dirty="0"/>
          </a:p>
        </p:txBody>
      </p:sp>
      <p:sp>
        <p:nvSpPr>
          <p:cNvPr id="26" name="Text 23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 — reconcile what was expected with what was actually observed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customer is guided to the delta that matters: confirmed, missing, unexpected or conflicting identities.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67512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036826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Reviewed inventory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82696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572768"/>
            <a:ext cx="2036826" cy="45262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63824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Unresolved identity becomes work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55648"/>
            <a:ext cx="5330952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A7CA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28232" y="198424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EDF3FF"/>
          </a:solidFill>
          <a:ln w="12700">
            <a:solidFill>
              <a:srgbClr val="EDF3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2048256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2457D6"/>
                </a:solidFill>
              </a:rPr>
              <a:t>FROM DATA TO DECISION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578608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457D6"/>
                </a:solidFill>
              </a:rPr>
              <a:t>Atlas is not trying to maximize the number of discovered devices.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446520" y="3474720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11112" y="3401568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Known records stay visible alongside new evidence.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46520" y="4059936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1112" y="3986784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Unresolved identities stay visible instead of being guessed.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46520" y="4645152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11112" y="4572000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57D6"/>
                </a:solidFill>
              </a:rPr>
              <a:t>The next recommended action is tied to the remaining uncertainty.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28232" y="5303520"/>
            <a:ext cx="4498848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92824" y="54132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891272" y="5404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result is a current baseline the customer can explain to operations, security and management.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 — close one remaining gap without widening the scope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Active behavior is optional and exact. The workflow shows why the request is needed, what target is authorized and what is prohibited.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76072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91056"/>
            <a:ext cx="2024482" cy="44988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Exact work order and target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91056"/>
            <a:ext cx="2024482" cy="44988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Out-of-scope target blocked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641848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11" name="Image 2" descr="/home/runner/work/mobile-ot-security-assessment/mobile-ot-security-assessment/build/live-demo/deck-frames/f2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591056"/>
            <a:ext cx="2024482" cy="44988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22976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One controller identified</a:t>
            </a:r>
            <a:endParaRPr lang="en-US" sz="770" dirty="0"/>
          </a:p>
        </p:txBody>
      </p:sp>
      <p:sp>
        <p:nvSpPr>
          <p:cNvPr id="13" name="Shape 8"/>
          <p:cNvSpPr/>
          <p:nvPr/>
        </p:nvSpPr>
        <p:spPr>
          <a:xfrm>
            <a:off x="8394192" y="1792224"/>
            <a:ext cx="3090672" cy="4169664"/>
          </a:xfrm>
          <a:prstGeom prst="roundRect">
            <a:avLst>
              <a:gd name="adj" fmla="val 2367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650224" y="202996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668512" y="209397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0232D"/>
                </a:solidFill>
              </a:rPr>
              <a:t>SAFETY AS A BENEFIT</a:t>
            </a:r>
            <a:endParaRPr lang="en-US" sz="820" dirty="0"/>
          </a:p>
        </p:txBody>
      </p:sp>
      <p:sp>
        <p:nvSpPr>
          <p:cNvPr id="16" name="Text 11"/>
          <p:cNvSpPr/>
          <p:nvPr/>
        </p:nvSpPr>
        <p:spPr>
          <a:xfrm>
            <a:off x="8650224" y="2606040"/>
            <a:ext cx="248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2457D6"/>
                </a:solidFill>
              </a:rPr>
              <a:t>The application guides the operator through a bounded identity check — and rejects a target that falls outside the authorized CIDR.</a:t>
            </a:r>
            <a:endParaRPr lang="en-US" sz="1530" dirty="0"/>
          </a:p>
        </p:txBody>
      </p:sp>
      <p:sp>
        <p:nvSpPr>
          <p:cNvPr id="17" name="Shape 12"/>
          <p:cNvSpPr/>
          <p:nvPr/>
        </p:nvSpPr>
        <p:spPr>
          <a:xfrm>
            <a:off x="8650224" y="3895344"/>
            <a:ext cx="82296" cy="82296"/>
          </a:xfrm>
          <a:prstGeom prst="ellipse">
            <a:avLst/>
          </a:prstGeom>
          <a:solidFill>
            <a:srgbClr val="B0232D"/>
          </a:solidFill>
          <a:ln w="12700">
            <a:solidFill>
              <a:srgbClr val="B0232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814816" y="382219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One exact target</a:t>
            </a:r>
            <a:endParaRPr lang="en-US" sz="990" dirty="0"/>
          </a:p>
        </p:txBody>
      </p:sp>
      <p:sp>
        <p:nvSpPr>
          <p:cNvPr id="19" name="Shape 14"/>
          <p:cNvSpPr/>
          <p:nvPr/>
        </p:nvSpPr>
        <p:spPr>
          <a:xfrm>
            <a:off x="8650224" y="4389120"/>
            <a:ext cx="82296" cy="82296"/>
          </a:xfrm>
          <a:prstGeom prst="ellipse">
            <a:avLst/>
          </a:prstGeom>
          <a:solidFill>
            <a:srgbClr val="B0232D"/>
          </a:solidFill>
          <a:ln w="12700">
            <a:solidFill>
              <a:srgbClr val="B0232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814816" y="43159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One identity request</a:t>
            </a:r>
            <a:endParaRPr lang="en-US" sz="990" dirty="0"/>
          </a:p>
        </p:txBody>
      </p:sp>
      <p:sp>
        <p:nvSpPr>
          <p:cNvPr id="21" name="Shape 16"/>
          <p:cNvSpPr/>
          <p:nvPr/>
        </p:nvSpPr>
        <p:spPr>
          <a:xfrm>
            <a:off x="8650224" y="4882896"/>
            <a:ext cx="82296" cy="82296"/>
          </a:xfrm>
          <a:prstGeom prst="ellipse">
            <a:avLst/>
          </a:prstGeom>
          <a:solidFill>
            <a:srgbClr val="B0232D"/>
          </a:solidFill>
          <a:ln w="12700">
            <a:solidFill>
              <a:srgbClr val="B0232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814816" y="4809744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2457D6"/>
                </a:solidFill>
              </a:rPr>
              <a:t>No scan · no write</a:t>
            </a:r>
            <a:endParaRPr lang="en-US" sz="990" dirty="0"/>
          </a:p>
        </p:txBody>
      </p:sp>
      <p:sp>
        <p:nvSpPr>
          <p:cNvPr id="23" name="Shape 18"/>
          <p:cNvSpPr/>
          <p:nvPr/>
        </p:nvSpPr>
        <p:spPr>
          <a:xfrm>
            <a:off x="8650224" y="5285232"/>
            <a:ext cx="2487168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814816" y="53949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0"/>
          <p:cNvSpPr/>
          <p:nvPr/>
        </p:nvSpPr>
        <p:spPr>
          <a:xfrm>
            <a:off x="10113264" y="53858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customer can resolve a specific uncertainty without turning the appliance into a general-purpose scanner.</a:t>
            </a:r>
            <a:endParaRPr lang="en-US" sz="1140" dirty="0"/>
          </a:p>
        </p:txBody>
      </p:sp>
      <p:sp>
        <p:nvSpPr>
          <p:cNvPr id="26" name="Text 2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5 — the handoff says what is ready and what is not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assessment ends with evidence-linked findings and explicit readiness blockers — not an overconfident “all clear.”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0408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27632"/>
            <a:ext cx="1983334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Evidence-linked finding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6440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1627632"/>
            <a:ext cx="1983334" cy="44074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4553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457D6"/>
                </a:solidFill>
              </a:rPr>
              <a:t>Report-readiness gate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92224"/>
            <a:ext cx="5321808" cy="4096512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19088" y="202996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37376" y="2093976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67A5A"/>
                </a:solidFill>
              </a:rPr>
              <a:t>HANDOFF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6517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What we established</a:t>
            </a:r>
            <a:endParaRPr lang="en-US" sz="1140" dirty="0"/>
          </a:p>
        </p:txBody>
      </p:sp>
      <p:sp>
        <p:nvSpPr>
          <p:cNvPr id="14" name="Text 10"/>
          <p:cNvSpPr/>
          <p:nvPr/>
        </p:nvSpPr>
        <p:spPr>
          <a:xfrm>
            <a:off x="8028432" y="265176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57D6"/>
                </a:solidFill>
              </a:rPr>
              <a:t>Reviewed inventory and evidence-backed identity claims.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What needs action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8028432" y="36118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57D6"/>
                </a:solidFill>
              </a:rPr>
              <a:t>Findings with condition, evidence, confidence and recommendation.</a:t>
            </a:r>
            <a:endParaRPr lang="en-US" sz="1030" dirty="0"/>
          </a:p>
        </p:txBody>
      </p:sp>
      <p:sp>
        <p:nvSpPr>
          <p:cNvPr id="17" name="Text 13"/>
          <p:cNvSpPr/>
          <p:nvPr/>
        </p:nvSpPr>
        <p:spPr>
          <a:xfrm>
            <a:off x="6428232" y="4572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What remains uncertain</a:t>
            </a:r>
            <a:endParaRPr lang="en-US" sz="1140" dirty="0"/>
          </a:p>
        </p:txBody>
      </p:sp>
      <p:sp>
        <p:nvSpPr>
          <p:cNvPr id="18" name="Text 14"/>
          <p:cNvSpPr/>
          <p:nvPr/>
        </p:nvSpPr>
        <p:spPr>
          <a:xfrm>
            <a:off x="8028432" y="457200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57D6"/>
                </a:solidFill>
              </a:rPr>
              <a:t>Unreviewed evidence, incomplete approvals or visibility limitations.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6428232" y="5257800"/>
            <a:ext cx="4462272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92824" y="536752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1" name="Text 17"/>
          <p:cNvSpPr/>
          <p:nvPr/>
        </p:nvSpPr>
        <p:spPr>
          <a:xfrm>
            <a:off x="7891272" y="535838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customer leaves with a defensible action list instead of a pile of scan output.</a:t>
            </a:r>
            <a:endParaRPr lang="en-US" sz="1140" dirty="0"/>
          </a:p>
        </p:txBody>
      </p:sp>
      <p:sp>
        <p:nvSpPr>
          <p:cNvPr id="22" name="Text 18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for the customer after the guided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The benefit is not another tool in the toolbox. It is a better operating state that can be repeated.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FFF1DB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AA5210"/>
          </a:solidFill>
          <a:ln w="12700">
            <a:solidFill>
              <a:srgbClr val="AA521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BEFORE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795528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457D6"/>
                </a:solidFill>
              </a:rPr>
              <a:t>“We have an inventory.”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95528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But confidence depends on age, spreadsheets and tribal knowledge.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22960" y="4617720"/>
            <a:ext cx="2761488" cy="0"/>
          </a:xfrm>
          <a:prstGeom prst="line">
            <a:avLst/>
          </a:prstGeom>
          <a:noFill/>
          <a:ln w="25400">
            <a:solidFill>
              <a:srgbClr val="AA521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AA5210"/>
                </a:solidFill>
              </a:rPr>
              <a:t>uncertainty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FFFFFF"/>
          </a:solidFill>
          <a:ln w="12700">
            <a:solidFill>
              <a:srgbClr val="F4F7FB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WITH ATLAS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457D6"/>
                </a:solidFill>
              </a:rPr>
              <a:t>“We can show the evidence.”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Expected, observed and confirmed identities live in one guided review flow.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4645152" y="4617720"/>
            <a:ext cx="2761488" cy="0"/>
          </a:xfrm>
          <a:prstGeom prst="line">
            <a:avLst/>
          </a:prstGeom>
          <a:noFill/>
          <a:ln w="25400">
            <a:solidFill>
              <a:srgbClr val="2457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2457D6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11312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39912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67A5A"/>
          </a:solidFill>
          <a:ln w="12700">
            <a:solidFill>
              <a:srgbClr val="167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AFTER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8439912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457D6"/>
                </a:solidFill>
              </a:rPr>
              <a:t>“We know what to do next.”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439912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Unknowns, conflicts, findings and blockers remain explicit and reviewable.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8467344" y="4617720"/>
            <a:ext cx="2761488" cy="0"/>
          </a:xfrm>
          <a:prstGeom prst="line">
            <a:avLst/>
          </a:prstGeom>
          <a:noFill/>
          <a:ln w="25400">
            <a:solidFill>
              <a:srgbClr val="167A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39912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167A5A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41832" y="5614416"/>
            <a:ext cx="10259568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06424" y="5724144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2404872" y="5715000"/>
            <a:ext cx="8613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Atlas helps the customer move from “inventory as a document” to “inventory as an evidence-backed operational picture.”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457D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exists today — and what the free pilot is meant to prove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2457D6"/>
                </a:solidFill>
              </a:rPr>
              <a:t>We separate demonstrated software behavior from the field qualification that must happen with a real customer.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40080" y="168249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457D6"/>
                </a:solidFill>
              </a:rPr>
              <a:t>DEMONSTRATED TODAY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309360" y="16824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67A5A"/>
                </a:solidFill>
              </a:rPr>
              <a:t>PROVED WITH THE PILOT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DF3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" y="214884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Guided Android workflow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2487168" y="2139696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Scope → collect → review → findings → report readiness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DF3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86207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Passive capture/import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2487168" y="2852928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Bounded PCAP/PCAPNG analysis and receive-only capture path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DF3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0392" y="3575304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Evidence reasoning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2487168" y="35661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Provenance, confidence, conflicts and analyst acceptance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DF3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0392" y="42885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Bounded active identity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2487168" y="4279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One exact Modbus/TCP device-identification request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DF3FF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50017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CI proof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2487168" y="4992624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API 29/35 UI journeys and emulator / virtual-SPAN tests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0936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21488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Physical field fit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101584" y="2139696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Phone / appliance / USB-Ethernet / SPAN-TAP behavior in the customer environment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86207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Operational usefulness</a:t>
            </a:r>
            <a:endParaRPr lang="en-US" sz="1040" dirty="0"/>
          </a:p>
        </p:txBody>
      </p:sp>
      <p:sp>
        <p:nvSpPr>
          <p:cNvPr id="26" name="Text 24"/>
          <p:cNvSpPr/>
          <p:nvPr/>
        </p:nvSpPr>
        <p:spPr>
          <a:xfrm>
            <a:off x="8101584" y="285292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Does the workflow reduce uncertainty for the customer’s real team?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5753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Evidence quality</a:t>
            </a:r>
            <a:endParaRPr lang="en-US" sz="1040" dirty="0"/>
          </a:p>
        </p:txBody>
      </p:sp>
      <p:sp>
        <p:nvSpPr>
          <p:cNvPr id="29" name="Text 27"/>
          <p:cNvSpPr/>
          <p:nvPr/>
        </p:nvSpPr>
        <p:spPr>
          <a:xfrm>
            <a:off x="8101584" y="356616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Is the collected evidence sufficient for the chosen process segment?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2885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Handoff fit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8101584" y="4279392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Does the output support the customer’s review and remediation process?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30936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F4F7FB"/>
          </a:solidFill>
          <a:ln w="12700">
            <a:solidFill>
              <a:srgbClr val="EAF7F1"/>
            </a:solidFill>
            <a:prstDash val="solid"/>
          </a:ln>
          <a:effectLst>
            <a:outerShdw sx="100000" sy="100000" kx="0" ky="0" algn="bl" rotWithShape="0" blurRad="15240" dist="50800" dir="2700000">
              <a:srgbClr val="2457D6">
                <a:alpha val="9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500176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457D6"/>
                </a:solidFill>
              </a:rPr>
              <a:t>Adoption decision</a:t>
            </a:r>
            <a:endParaRPr lang="en-US" sz="1040" dirty="0"/>
          </a:p>
        </p:txBody>
      </p:sp>
      <p:sp>
        <p:nvSpPr>
          <p:cNvPr id="35" name="Text 33"/>
          <p:cNvSpPr/>
          <p:nvPr/>
        </p:nvSpPr>
        <p:spPr>
          <a:xfrm>
            <a:off x="8101584" y="49926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57D6"/>
                </a:solidFill>
              </a:rPr>
              <a:t>Is the appliance valuable enough to acquire and keep?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60120" y="5760720"/>
            <a:ext cx="10241280" cy="603504"/>
          </a:xfrm>
          <a:prstGeom prst="roundRect">
            <a:avLst>
              <a:gd name="adj" fmla="val 10606"/>
            </a:avLst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4712" y="58704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67A5A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2423160" y="586130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2457D6"/>
                </a:solidFill>
              </a:rPr>
              <a:t>The free pilot is not a sales demo. It is the customer’s evidence for the acquisition decision.</a:t>
            </a:r>
            <a:endParaRPr lang="en-US" sz="1140" dirty="0"/>
          </a:p>
        </p:txBody>
      </p:sp>
      <p:sp>
        <p:nvSpPr>
          <p:cNvPr id="39" name="Text 37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2457D6"/>
                </a:solidFill>
              </a:rPr>
              <a:t>No production qualification is claimed before the field pilot and release gates are completed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2457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45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722376"/>
            <a:ext cx="11978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one bounded segment.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from your own experience.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8895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7D6"/>
                </a:solidFill>
              </a:rPr>
              <a:t>What we ask from you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13232" y="3383280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3310128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One drinking-water or wastewater control segment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13232" y="3895344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822192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A named operational/security sponsor and an agreed collection window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13232" y="4407408"/>
            <a:ext cx="82296" cy="822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334256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Written scope, exclusions and stop conditions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903720" y="1280160"/>
            <a:ext cx="4434840" cy="4343400"/>
          </a:xfrm>
          <a:prstGeom prst="roundRect">
            <a:avLst>
              <a:gd name="adj" fmla="val 2105"/>
            </a:avLst>
          </a:prstGeom>
          <a:solidFill>
            <a:srgbClr val="2457D6"/>
          </a:solidFill>
          <a:ln w="15240">
            <a:solidFill>
              <a:srgbClr val="2457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42048" y="166420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457D6"/>
                </a:solidFill>
              </a:rPr>
              <a:t>WHAT HAPPENS NEXT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2194560"/>
            <a:ext cx="310896" cy="3108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42048" y="226771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26680" y="21854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deliver and configure the appliance</a:t>
            </a:r>
            <a:endParaRPr lang="en-US" sz="1110" dirty="0"/>
          </a:p>
        </p:txBody>
      </p:sp>
      <p:sp>
        <p:nvSpPr>
          <p:cNvPr id="18" name="Shape 16"/>
          <p:cNvSpPr/>
          <p:nvPr/>
        </p:nvSpPr>
        <p:spPr>
          <a:xfrm>
            <a:off x="7242048" y="2779776"/>
            <a:ext cx="310896" cy="3108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2048" y="2852928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726680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guide the first assessment and leave it with you</a:t>
            </a:r>
            <a:endParaRPr lang="en-US" sz="1110" dirty="0"/>
          </a:p>
        </p:txBody>
      </p:sp>
      <p:sp>
        <p:nvSpPr>
          <p:cNvPr id="21" name="Shape 19"/>
          <p:cNvSpPr/>
          <p:nvPr/>
        </p:nvSpPr>
        <p:spPr>
          <a:xfrm>
            <a:off x="7242048" y="3364992"/>
            <a:ext cx="310896" cy="3108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3438144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726680" y="335584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You use it and judge the value in your own environment</a:t>
            </a:r>
            <a:endParaRPr lang="en-US" sz="1110" dirty="0"/>
          </a:p>
        </p:txBody>
      </p:sp>
      <p:sp>
        <p:nvSpPr>
          <p:cNvPr id="24" name="Shape 22"/>
          <p:cNvSpPr/>
          <p:nvPr/>
        </p:nvSpPr>
        <p:spPr>
          <a:xfrm>
            <a:off x="7242048" y="3950208"/>
            <a:ext cx="310896" cy="3108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42048" y="40233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72668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b="1" dirty="0">
                <a:solidFill>
                  <a:srgbClr val="FFFFFF"/>
                </a:solidFill>
              </a:rPr>
              <a:t>Acquire it — or tell us to pick it up</a:t>
            </a:r>
            <a:endParaRPr lang="en-US" sz="1110" dirty="0"/>
          </a:p>
        </p:txBody>
      </p:sp>
      <p:sp>
        <p:nvSpPr>
          <p:cNvPr id="27" name="Shape 25"/>
          <p:cNvSpPr/>
          <p:nvPr/>
        </p:nvSpPr>
        <p:spPr>
          <a:xfrm>
            <a:off x="7242048" y="4535424"/>
            <a:ext cx="310896" cy="310896"/>
          </a:xfrm>
          <a:prstGeom prst="ellipse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2048" y="460857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726680" y="45262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Add consulting/support only where it helps</a:t>
            </a:r>
            <a:endParaRPr lang="en-US" sz="1110" dirty="0"/>
          </a:p>
        </p:txBody>
      </p:sp>
      <p:sp>
        <p:nvSpPr>
          <p:cNvPr id="30" name="Text 28"/>
          <p:cNvSpPr/>
          <p:nvPr/>
        </p:nvSpPr>
        <p:spPr>
          <a:xfrm>
            <a:off x="713232" y="5687568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The next decision is only: which bounded segment should we use for the free pilot?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3232" y="634593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2457D6"/>
                </a:solidFill>
              </a:rPr>
              <a:t>ATLAS OT SCOUT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2457D6"/>
      </a:dk1>
      <a:lt1>
        <a:srgbClr val="FFFFFF"/>
      </a:lt1>
      <a:dk2>
        <a:srgbClr val="2457D6"/>
      </a:dk2>
      <a:lt2>
        <a:srgbClr val="FFFFFF"/>
      </a:lt2>
      <a:accent1>
        <a:srgbClr val="2457D6"/>
      </a:accent1>
      <a:accent2>
        <a:srgbClr val="167A5A"/>
      </a:accent2>
      <a:accent3>
        <a:srgbClr val="A7CAFF"/>
      </a:accent3>
      <a:accent4>
        <a:srgbClr val="AA5210"/>
      </a:accent4>
      <a:accent5>
        <a:srgbClr val="B0232D"/>
      </a:accent5>
      <a:accent6>
        <a:srgbClr val="FFFFFF"/>
      </a:accent6>
      <a:hlink>
        <a:srgbClr val="2457D6"/>
      </a:hlink>
      <a:folHlink>
        <a:srgbClr val="167A5A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B1F33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Guided OT Visibility You Can Try Before You Buy</dc:title>
  <dc:subject>Prospect pitch: guided OT assessment appliance and free pilot</dc:subject>
  <dc:creator>Charif Mahmoudi</dc:creator>
  <cp:lastModifiedBy>Charif Mahmoudi</cp:lastModifiedBy>
  <cp:revision>1</cp:revision>
  <dcterms:created xsi:type="dcterms:W3CDTF">2026-09-03T03:02:31Z</dcterms:created>
  <dcterms:modified xsi:type="dcterms:W3CDTF">2026-09-03T03:02:31Z</dcterms:modified>
</cp:coreProperties>
</file>