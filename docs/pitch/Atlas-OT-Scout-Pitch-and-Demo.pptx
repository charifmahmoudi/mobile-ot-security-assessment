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
Source: docs/poc/WATER-WASTEWATER-POC.md
Source image: docs/user-guide/screenshots/03-site-dashboard-api35.png
Open with the free-pilot proposition, not the protocol mechanics.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- Decision supported
Source: docs/poc/WATER-WASTEWATER-POC.md - Why this industry
Frame the motivation around operational evidence, not cyber fear.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
Source: docs/poc/WATER-WASTEWATER-POC.md - Outcome and assessment unit
Keep the product boundary explicit; it builds trust with operations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IMPLEMENTATION.md
Source: docs/wiki/Technical-Architecture.md
This is the credibility slide: separate “exists now” from “field-qualified later.”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
Source: docs/poc/WATER-WASTEWATER-POC.md - End-to-end procedure
Source: IMPLEMENTATION.md - Guided assessment UI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docs/wiki/Technical-Architecture.md - Passive collection
Source images: 04-collection-methods-api35.png and 06-live-span-result-api35.png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IMPLEMENTATION.md - Active OT identification
Source: docs/wiki/Technical-Architecture.md - Active identity execution
Source images: 06-out-of-scope-blocked-api35.png and 09-active-pymodbus-api35.png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- Decision supported and current limits
Source: docs/poc/WATER-WASTEWATER-POC.md - Reconcile / Assess / Review and report
Source images: 07-asset-inventory-api35.png and 10-guided-report-readiness-api35.png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docs/wiki/Technical-Architecture.md
Source: IMPLEMENTATION.md - implemented boundaries
The architecture is a selling point because it directly addresses operations concerns about assessment tooling.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docs/demo/atlas-ot-scout-emulator-demo.mp4
The PPTX embeds the MP4. PDF export shows the cover frame only.
Playback profile is intentionally conservative for PowerPoint/browser compatibility.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- Status and current limits
Source: IMPLEMENTATION.md - deferred release gates
Turn limitations into the logic for the pilot, not into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docs/poc/WATER-WASTEWATER-POC.md - Assessment unit
This is a proposed commercial pilot structure; final logistics can be agreed with each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low-risk decision, not a procurement ask.
The goal of this deck is to secure agreement to a no-fee, bounded field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01000" y="-685800"/>
            <a:ext cx="4937760" cy="4937760"/>
          </a:xfrm>
          <a:prstGeom prst="ellipse">
            <a:avLst/>
          </a:prstGeom>
          <a:solidFill>
            <a:srgbClr val="0E3850">
              <a:alpha val="88000"/>
            </a:srgbClr>
          </a:solidFill>
          <a:ln w="12700">
            <a:solidFill>
              <a:srgbClr val="0E385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87968" y="3520440"/>
            <a:ext cx="3840480" cy="3840480"/>
          </a:xfrm>
          <a:prstGeom prst="ellipse">
            <a:avLst/>
          </a:prstGeom>
          <a:solidFill>
            <a:srgbClr val="0D6070">
              <a:alpha val="55000"/>
            </a:srgbClr>
          </a:solidFill>
          <a:ln w="12700">
            <a:solidFill>
              <a:srgbClr val="0D607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58368"/>
            <a:ext cx="1600200" cy="283464"/>
          </a:xfrm>
          <a:prstGeom prst="roundRect">
            <a:avLst>
              <a:gd name="adj" fmla="val 25806"/>
            </a:avLst>
          </a:prstGeom>
          <a:solidFill>
            <a:srgbClr val="143F55"/>
          </a:solidFill>
          <a:ln w="12700">
            <a:solidFill>
              <a:srgbClr val="143F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" y="726948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3B7C8"/>
                </a:solidFill>
              </a:rPr>
              <a:t>FREE PILOT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188720"/>
            <a:ext cx="6217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B7C8"/>
                </a:solidFill>
              </a:rPr>
              <a:t>Atlas OT Scout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6995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Understand what is really on your OT segment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before you sign off.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76656" y="3310128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D7E4EC"/>
                </a:solidFill>
              </a:rPr>
              <a:t>An offline-first Android assessment instrument for water and wastewater operations: passive first, evidence reviewed by a human, bounded active identity only when explicitly approved.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676656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spc="50" kern="0" dirty="0">
                <a:solidFill>
                  <a:srgbClr val="13B7C8"/>
                </a:solidFill>
              </a:rPr>
              <a:t>PASSIVE FIRST</a:t>
            </a:r>
            <a:endParaRPr lang="en-US" sz="830" dirty="0"/>
          </a:p>
        </p:txBody>
      </p:sp>
      <p:sp>
        <p:nvSpPr>
          <p:cNvPr id="11" name="Text 9"/>
          <p:cNvSpPr/>
          <p:nvPr/>
        </p:nvSpPr>
        <p:spPr>
          <a:xfrm>
            <a:off x="2249424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spc="50" kern="0" dirty="0">
                <a:solidFill>
                  <a:srgbClr val="8ECFE0"/>
                </a:solidFill>
              </a:rPr>
              <a:t>OFFLINE FIRST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3822192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spc="50" kern="0" dirty="0">
                <a:solidFill>
                  <a:srgbClr val="87D4BD"/>
                </a:solidFill>
              </a:rPr>
              <a:t>NO CONTROL WRITES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676656" y="5047488"/>
            <a:ext cx="5303520" cy="658368"/>
          </a:xfrm>
          <a:prstGeom prst="roundRect">
            <a:avLst>
              <a:gd name="adj" fmla="val 9722"/>
            </a:avLst>
          </a:prstGeom>
          <a:solidFill>
            <a:srgbClr val="10334B"/>
          </a:solidFill>
          <a:ln w="12700">
            <a:solidFill>
              <a:srgbClr val="28607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52395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</a:rPr>
              <a:t>Pilot one bounded treatment or pumping segment at no cost - then decide based on evidence.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691372" y="672084"/>
            <a:ext cx="2530602" cy="5522976"/>
          </a:xfrm>
          <a:prstGeom prst="roundRect">
            <a:avLst>
              <a:gd name="adj" fmla="val 1807"/>
            </a:avLst>
          </a:prstGeom>
          <a:solidFill>
            <a:srgbClr val="FFFFFF"/>
          </a:solidFill>
          <a:ln w="12700">
            <a:solidFill>
              <a:srgbClr val="13B7C8"/>
            </a:solidFill>
            <a:prstDash val="solid"/>
          </a:ln>
          <a:effectLst>
            <a:outerShdw sx="100000" sy="100000" kx="0" ky="0" algn="bl" rotWithShape="0" blurRad="12700" dist="50800" dir="2700000">
              <a:srgbClr val="6C8192">
                <a:alpha val="12000"/>
              </a:srgbClr>
            </a:outerShdw>
          </a:effectLst>
        </p:spPr>
      </p:sp>
      <p:pic>
        <p:nvPicPr>
          <p:cNvPr id="16" name="Image 0" descr="/home/runner/work/mobile-ot-security-assessment/mobile-ot-security-assessment/docs/user-guide/screenshots/03-site-dashboard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713232"/>
            <a:ext cx="2448306" cy="54406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567928" y="6263640"/>
            <a:ext cx="27774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67B8D"/>
                </a:solidFill>
              </a:rPr>
              <a:t>Actual Android application</a:t>
            </a:r>
            <a:endParaRPr lang="en-US" sz="770" dirty="0"/>
          </a:p>
        </p:txBody>
      </p:sp>
      <p:sp>
        <p:nvSpPr>
          <p:cNvPr id="18" name="Text 15"/>
          <p:cNvSpPr/>
          <p:nvPr/>
        </p:nvSpPr>
        <p:spPr>
          <a:xfrm>
            <a:off x="676656" y="618134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7395A8"/>
                </a:solidFill>
              </a:rPr>
              <a:t>Executable prototype / API 35 evidence</a:t>
            </a:r>
            <a:endParaRPr lang="en-US" sz="7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02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Why this project exists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Water OT teams need a current picture of a segment without turning the assessment itself into an operational risk.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530352" y="1883664"/>
            <a:ext cx="3456432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2148840"/>
            <a:ext cx="530352" cy="530352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295144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58952" y="2889504"/>
            <a:ext cx="2880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Baseline drift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952" y="3621024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667B8D"/>
                </a:solidFill>
              </a:rPr>
              <a:t>Spreadsheets and diagrams age. What is documented and what is actually communicating can diverge.</a:t>
            </a:r>
            <a:endParaRPr lang="en-US" sz="1110" dirty="0"/>
          </a:p>
        </p:txBody>
      </p:sp>
      <p:sp>
        <p:nvSpPr>
          <p:cNvPr id="12" name="Shape 10"/>
          <p:cNvSpPr/>
          <p:nvPr/>
        </p:nvSpPr>
        <p:spPr>
          <a:xfrm>
            <a:off x="4325112" y="1883664"/>
            <a:ext cx="3456432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2148840"/>
            <a:ext cx="530352" cy="530352"/>
          </a:xfrm>
          <a:prstGeom prst="ellipse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12" y="2295144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53712" y="2889504"/>
            <a:ext cx="2880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Intrusive discovery is hard to justify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3712" y="3621024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667B8D"/>
                </a:solidFill>
              </a:rPr>
              <a:t>Availability and process constraints make broad scanning a poor default in many control environments.</a:t>
            </a:r>
            <a:endParaRPr lang="en-US" sz="1110" dirty="0"/>
          </a:p>
        </p:txBody>
      </p:sp>
      <p:sp>
        <p:nvSpPr>
          <p:cNvPr id="17" name="Shape 15"/>
          <p:cNvSpPr/>
          <p:nvPr/>
        </p:nvSpPr>
        <p:spPr>
          <a:xfrm>
            <a:off x="8119872" y="1883664"/>
            <a:ext cx="3456432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48472" y="2148840"/>
            <a:ext cx="530352" cy="530352"/>
          </a:xfrm>
          <a:prstGeom prst="ellipse">
            <a:avLst/>
          </a:prstGeom>
          <a:solidFill>
            <a:srgbClr val="0A8F88"/>
          </a:solidFill>
          <a:ln w="12700">
            <a:solidFill>
              <a:srgbClr val="0A8F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2295144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48472" y="2889504"/>
            <a:ext cx="2880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 device list is not a defensible handoff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48472" y="3621024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667B8D"/>
                </a:solidFill>
              </a:rPr>
              <a:t>The assessor still needs provenance, confidence, limitations and explicit review before conclusions are accepted.</a:t>
            </a:r>
            <a:endParaRPr lang="en-US" sz="1110" dirty="0"/>
          </a:p>
        </p:txBody>
      </p:sp>
      <p:sp>
        <p:nvSpPr>
          <p:cNvPr id="22" name="Shape 20"/>
          <p:cNvSpPr/>
          <p:nvPr/>
        </p:nvSpPr>
        <p:spPr>
          <a:xfrm>
            <a:off x="822960" y="5285232"/>
            <a:ext cx="10561320" cy="658368"/>
          </a:xfrm>
          <a:prstGeom prst="roundRect">
            <a:avLst>
              <a:gd name="adj" fmla="val 8333"/>
            </a:avLst>
          </a:prstGeom>
          <a:solidFill>
            <a:srgbClr val="0A2033"/>
          </a:solidFill>
          <a:ln w="12700">
            <a:solidFill>
              <a:srgbClr val="0A20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8992" y="5477256"/>
            <a:ext cx="10058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10" b="1" dirty="0">
                <a:solidFill>
                  <a:srgbClr val="FFFFFF"/>
                </a:solidFill>
              </a:rPr>
              <a:t>The field question is not “how many devices did we scan?”  It is “what can we prove about this exact segment?”</a:t>
            </a:r>
            <a:endParaRPr lang="en-US" sz="141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03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What Atlas OT Scout is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A field assessment workflow built around evidence quality, human review and explicit scope.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4956048" cy="4160520"/>
          </a:xfrm>
          <a:prstGeom prst="roundRect">
            <a:avLst>
              <a:gd name="adj" fmla="val 1758"/>
            </a:avLst>
          </a:prstGeom>
          <a:solidFill>
            <a:srgbClr val="112B41"/>
          </a:solidFill>
          <a:ln w="12700">
            <a:solidFill>
              <a:srgbClr val="112B41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011680"/>
            <a:ext cx="1005840" cy="283464"/>
          </a:xfrm>
          <a:prstGeom prst="roundRect">
            <a:avLst>
              <a:gd name="adj" fmla="val 25806"/>
            </a:avLst>
          </a:prstGeom>
          <a:solidFill>
            <a:srgbClr val="19415B"/>
          </a:solidFill>
          <a:ln w="12700">
            <a:solidFill>
              <a:srgbClr val="1941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5256" y="2080260"/>
            <a:ext cx="877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3B7C8"/>
                </a:solidFill>
              </a:rPr>
              <a:t>THE PROJECT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4261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 offline-first Android field instrument for authorized OT asset assessment.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68680" y="3803904"/>
            <a:ext cx="82296" cy="82296"/>
          </a:xfrm>
          <a:prstGeom prst="ellipse">
            <a:avLst/>
          </a:prstGeom>
          <a:solidFill>
            <a:srgbClr val="6CD3DE"/>
          </a:solidFill>
          <a:ln w="12700">
            <a:solidFill>
              <a:srgbClr val="6CD3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3712464"/>
            <a:ext cx="39959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CE9F0"/>
                </a:solidFill>
              </a:rPr>
              <a:t>One case = one site, one process area and one bounded control segment.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4407408"/>
            <a:ext cx="82296" cy="82296"/>
          </a:xfrm>
          <a:prstGeom prst="ellipse">
            <a:avLst/>
          </a:prstGeom>
          <a:solidFill>
            <a:srgbClr val="6CD3DE"/>
          </a:solidFill>
          <a:ln w="12700">
            <a:solidFill>
              <a:srgbClr val="6CD3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4315968"/>
            <a:ext cx="39959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CE9F0"/>
                </a:solidFill>
              </a:rPr>
              <a:t>Collect the least intrusive evidence that can close a real decision gap.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5010912"/>
            <a:ext cx="82296" cy="82296"/>
          </a:xfrm>
          <a:prstGeom prst="ellipse">
            <a:avLst/>
          </a:prstGeom>
          <a:solidFill>
            <a:srgbClr val="6CD3DE"/>
          </a:solidFill>
          <a:ln w="12700">
            <a:solidFill>
              <a:srgbClr val="6CD3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4919472"/>
            <a:ext cx="39959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CE9F0"/>
                </a:solidFill>
              </a:rPr>
              <a:t>Keep raw evidence, observations, accepted assets and findings as separate layers.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52160" y="1865376"/>
            <a:ext cx="2542032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2048256"/>
            <a:ext cx="841248" cy="283464"/>
          </a:xfrm>
          <a:prstGeom prst="roundRect">
            <a:avLst>
              <a:gd name="adj" fmla="val 25806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9048" y="211683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E78D1"/>
                </a:solidFill>
              </a:rPr>
              <a:t>SCOPE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035040" y="2523744"/>
            <a:ext cx="2176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3283B"/>
                </a:solidFill>
              </a:rPr>
              <a:t>Site, process area, authorization and stop conditions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705088" y="1865376"/>
            <a:ext cx="2542032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887968" y="2048256"/>
            <a:ext cx="841248" cy="283464"/>
          </a:xfrm>
          <a:prstGeom prst="roundRect">
            <a:avLst>
              <a:gd name="adj" fmla="val 25806"/>
            </a:avLst>
          </a:prstGeom>
          <a:solidFill>
            <a:srgbClr val="E9F8FA"/>
          </a:solidFill>
          <a:ln w="12700">
            <a:solidFill>
              <a:srgbClr val="E9F8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51976" y="211683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A8F88"/>
                </a:solidFill>
              </a:rPr>
              <a:t>EVIDENCE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887968" y="2523744"/>
            <a:ext cx="2176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3283B"/>
                </a:solidFill>
              </a:rPr>
              <a:t>Passive capture/import first; exact active identity only when approved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52160" y="3767328"/>
            <a:ext cx="2542032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35040" y="3950208"/>
            <a:ext cx="841248" cy="283464"/>
          </a:xfrm>
          <a:prstGeom prst="roundRect">
            <a:avLst>
              <a:gd name="adj" fmla="val 25806"/>
            </a:avLst>
          </a:prstGeom>
          <a:solidFill>
            <a:srgbClr val="E7F8FB"/>
          </a:solidFill>
          <a:ln w="12700">
            <a:solidFill>
              <a:srgbClr val="E7F8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4018788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3B7C8"/>
                </a:solidFill>
              </a:rPr>
              <a:t>REVIEW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035040" y="4425696"/>
            <a:ext cx="2176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3283B"/>
                </a:solidFill>
              </a:rPr>
              <a:t>Analyst acceptance before inventory or finding changes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705088" y="3767328"/>
            <a:ext cx="2542032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887968" y="3950208"/>
            <a:ext cx="841248" cy="283464"/>
          </a:xfrm>
          <a:prstGeom prst="roundRect">
            <a:avLst>
              <a:gd name="adj" fmla="val 25806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51976" y="4018788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87A62"/>
                </a:solidFill>
              </a:rPr>
              <a:t>HANDOFF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887968" y="4425696"/>
            <a:ext cx="2176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3283B"/>
                </a:solidFill>
              </a:rPr>
              <a:t>Reconciled inventory, evidence-linked findings and explicit remaining gaps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870448" y="5788152"/>
            <a:ext cx="5349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B74242"/>
                </a:solidFill>
              </a:rPr>
              <a:t>Not a penetration test. Not a certification audit. Not continuous monitoring.</a:t>
            </a:r>
            <a:endParaRPr lang="en-US" sz="1070" dirty="0"/>
          </a:p>
        </p:txBody>
      </p:sp>
      <p:sp>
        <p:nvSpPr>
          <p:cNvPr id="34" name="Text 32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04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What we have today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The prototype is already executable end-to-end; the pilot is for physical field qualification and customer value, not for validating a slide concept.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566928" y="1682496"/>
            <a:ext cx="57150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1965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033"/>
                </a:solidFill>
              </a:rPr>
              <a:t>Current executable stack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68680" y="2468880"/>
            <a:ext cx="5102352" cy="585216"/>
          </a:xfrm>
          <a:prstGeom prst="roundRect">
            <a:avLst>
              <a:gd name="adj" fmla="val 7813"/>
            </a:avLst>
          </a:prstGeom>
          <a:solidFill>
            <a:srgbClr val="F8FBFC"/>
          </a:solidFill>
          <a:ln w="12700">
            <a:solidFill>
              <a:srgbClr val="D9E3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468880"/>
            <a:ext cx="91440" cy="585216"/>
          </a:xfrm>
          <a:prstGeom prst="rect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2560320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E78D1"/>
                </a:solidFill>
              </a:rPr>
              <a:t>CASE APP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359152" y="2542032"/>
            <a:ext cx="19933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3283B"/>
                </a:solidFill>
              </a:rPr>
              <a:t>Site / scope / review / inventory / findings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2359152" y="2779776"/>
            <a:ext cx="2468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67B8D"/>
                </a:solidFill>
              </a:rPr>
              <a:t>No Android INTERNET permission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868680" y="3218688"/>
            <a:ext cx="5102352" cy="585216"/>
          </a:xfrm>
          <a:prstGeom prst="roundRect">
            <a:avLst>
              <a:gd name="adj" fmla="val 7813"/>
            </a:avLst>
          </a:prstGeom>
          <a:solidFill>
            <a:srgbClr val="F0F6F8"/>
          </a:solidFill>
          <a:ln w="12700">
            <a:solidFill>
              <a:srgbClr val="D9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3218688"/>
            <a:ext cx="91440" cy="585216"/>
          </a:xfrm>
          <a:prstGeom prst="rect">
            <a:avLst/>
          </a:prstGeom>
          <a:solidFill>
            <a:srgbClr val="0A8F88"/>
          </a:solidFill>
          <a:ln w="12700">
            <a:solidFill>
              <a:srgbClr val="0A8F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A8F88"/>
                </a:solidFill>
              </a:rPr>
              <a:t>CAPTURE BROKER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359152" y="3291840"/>
            <a:ext cx="19933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3283B"/>
                </a:solidFill>
              </a:rPr>
              <a:t>Bounded passive PCAP stream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2359152" y="3529584"/>
            <a:ext cx="2468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67B8D"/>
                </a:solidFill>
              </a:rPr>
              <a:t>Receive-only software boundary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868680" y="3968496"/>
            <a:ext cx="5102352" cy="585216"/>
          </a:xfrm>
          <a:prstGeom prst="roundRect">
            <a:avLst>
              <a:gd name="adj" fmla="val 7813"/>
            </a:avLst>
          </a:prstGeom>
          <a:solidFill>
            <a:srgbClr val="F8FBFC"/>
          </a:solidFill>
          <a:ln w="12700">
            <a:solidFill>
              <a:srgbClr val="D9E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3968496"/>
            <a:ext cx="91440" cy="585216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4059936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3B7C8"/>
                </a:solidFill>
              </a:rPr>
              <a:t>ISOLATED PARSER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359152" y="4041648"/>
            <a:ext cx="19933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3283B"/>
                </a:solidFill>
              </a:rPr>
              <a:t>Protocol observations from sealed evidence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2359152" y="4279392"/>
            <a:ext cx="2468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67B8D"/>
                </a:solidFill>
              </a:rPr>
              <a:t>No network or case-store authority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868680" y="4718304"/>
            <a:ext cx="5102352" cy="585216"/>
          </a:xfrm>
          <a:prstGeom prst="roundRect">
            <a:avLst>
              <a:gd name="adj" fmla="val 7813"/>
            </a:avLst>
          </a:prstGeom>
          <a:solidFill>
            <a:srgbClr val="F0F6F8"/>
          </a:solidFill>
          <a:ln w="12700">
            <a:solidFill>
              <a:srgbClr val="D9E3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4718304"/>
            <a:ext cx="91440" cy="585216"/>
          </a:xfrm>
          <a:prstGeom prst="rect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4809744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87A62"/>
                </a:solidFill>
              </a:rPr>
              <a:t>NETWORK BROKER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359152" y="4791456"/>
            <a:ext cx="19933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3283B"/>
                </a:solidFill>
              </a:rPr>
              <a:t>Signed one-use active identity operation</a:t>
            </a:r>
            <a:endParaRPr lang="en-US" sz="970" dirty="0"/>
          </a:p>
        </p:txBody>
      </p:sp>
      <p:sp>
        <p:nvSpPr>
          <p:cNvPr id="28" name="Text 26"/>
          <p:cNvSpPr/>
          <p:nvPr/>
        </p:nvSpPr>
        <p:spPr>
          <a:xfrm>
            <a:off x="2359152" y="5029200"/>
            <a:ext cx="2468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67B8D"/>
                </a:solidFill>
              </a:rPr>
              <a:t>Compiled Modbus identity only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914400" y="553212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A2033"/>
                </a:solidFill>
              </a:rPr>
              <a:t>Raw evidence → proposed observations → reviewed assets → findings → readiness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6629400" y="1783080"/>
            <a:ext cx="148132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702552" y="189280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78D1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702552" y="2267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667B8D"/>
                </a:solidFill>
              </a:rPr>
              <a:t>guided assessment stages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8257032" y="1783080"/>
            <a:ext cx="148132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330184" y="189280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8F88"/>
                </a:solidFill>
              </a:rPr>
              <a:t>4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8330184" y="2267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667B8D"/>
                </a:solidFill>
              </a:rPr>
              <a:t>sourced passive protocol fixtures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9884664" y="1783080"/>
            <a:ext cx="1737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957816" y="18928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7A62"/>
                </a:solidFill>
              </a:rPr>
              <a:t>1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957816" y="2267712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667B8D"/>
                </a:solidFill>
              </a:rPr>
              <a:t>bounded Modbus identity request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6675120" y="2990088"/>
            <a:ext cx="155448" cy="155448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0548" y="294436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67728" y="2944368"/>
            <a:ext cx="4315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3283B"/>
                </a:solidFill>
              </a:rPr>
              <a:t>Android API 29 + API 35 guided UI journeys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967728" y="3209544"/>
            <a:ext cx="4315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67B8D"/>
                </a:solidFill>
              </a:rPr>
              <a:t>site → collect → assets → findings → report</a:t>
            </a:r>
            <a:endParaRPr lang="en-US" sz="860" dirty="0"/>
          </a:p>
        </p:txBody>
      </p:sp>
      <p:sp>
        <p:nvSpPr>
          <p:cNvPr id="43" name="Shape 41"/>
          <p:cNvSpPr/>
          <p:nvPr/>
        </p:nvSpPr>
        <p:spPr>
          <a:xfrm>
            <a:off x="6675120" y="3694176"/>
            <a:ext cx="155448" cy="155448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70548" y="36484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967728" y="3648456"/>
            <a:ext cx="4315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3283B"/>
                </a:solidFill>
              </a:rPr>
              <a:t>PCAP / PCAPNG analysis with hashes and provenance</a:t>
            </a:r>
            <a:endParaRPr lang="en-US" sz="1040" dirty="0"/>
          </a:p>
        </p:txBody>
      </p:sp>
      <p:sp>
        <p:nvSpPr>
          <p:cNvPr id="46" name="Text 44"/>
          <p:cNvSpPr/>
          <p:nvPr/>
        </p:nvSpPr>
        <p:spPr>
          <a:xfrm>
            <a:off x="6967728" y="3913632"/>
            <a:ext cx="4315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67B8D"/>
                </a:solidFill>
              </a:rPr>
              <a:t>Modbus/TCP, DNP3, IEC-104 and BACnet sourced fixtures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6675120" y="4398264"/>
            <a:ext cx="155448" cy="155448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70548" y="435254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967728" y="4352544"/>
            <a:ext cx="4315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3283B"/>
                </a:solidFill>
              </a:rPr>
              <a:t>Receive-only native capture path exercised in CI</a:t>
            </a:r>
            <a:endParaRPr lang="en-US" sz="1040" dirty="0"/>
          </a:p>
        </p:txBody>
      </p:sp>
      <p:sp>
        <p:nvSpPr>
          <p:cNvPr id="50" name="Text 48"/>
          <p:cNvSpPr/>
          <p:nvPr/>
        </p:nvSpPr>
        <p:spPr>
          <a:xfrm>
            <a:off x="6967728" y="4617720"/>
            <a:ext cx="4315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67B8D"/>
                </a:solidFill>
              </a:rPr>
              <a:t>bounded AF_PACKET capture and zero-transmission assertion</a:t>
            </a:r>
            <a:endParaRPr lang="en-US" sz="860" dirty="0"/>
          </a:p>
        </p:txBody>
      </p:sp>
      <p:sp>
        <p:nvSpPr>
          <p:cNvPr id="51" name="Shape 49"/>
          <p:cNvSpPr/>
          <p:nvPr/>
        </p:nvSpPr>
        <p:spPr>
          <a:xfrm>
            <a:off x="6675120" y="5102352"/>
            <a:ext cx="155448" cy="155448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0548" y="505663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67728" y="5056632"/>
            <a:ext cx="4315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3283B"/>
                </a:solidFill>
              </a:rPr>
              <a:t>Signed UI → broker → TCP → evidence journeys</a:t>
            </a:r>
            <a:endParaRPr lang="en-US" sz="1040" dirty="0"/>
          </a:p>
        </p:txBody>
      </p:sp>
      <p:sp>
        <p:nvSpPr>
          <p:cNvPr id="54" name="Text 52"/>
          <p:cNvSpPr/>
          <p:nvPr/>
        </p:nvSpPr>
        <p:spPr>
          <a:xfrm>
            <a:off x="6967728" y="5321808"/>
            <a:ext cx="43159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67B8D"/>
                </a:solidFill>
              </a:rPr>
              <a:t>PyModbus identity plus conservative Modbus-TK / Conpot outcomes</a:t>
            </a:r>
            <a:endParaRPr lang="en-US" sz="860" dirty="0"/>
          </a:p>
        </p:txBody>
      </p:sp>
      <p:sp>
        <p:nvSpPr>
          <p:cNvPr id="55" name="Text 53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05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How an assessment works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The assessor follows one controlled journey from scope to a decision-ready handoff.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566928" y="1700784"/>
            <a:ext cx="33832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865376"/>
            <a:ext cx="384048" cy="384048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960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234440" y="1847088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b="1" dirty="0">
                <a:solidFill>
                  <a:srgbClr val="0A2033"/>
                </a:solidFill>
              </a:rPr>
              <a:t>Scope</a:t>
            </a:r>
            <a:endParaRPr lang="en-US" sz="1370" dirty="0"/>
          </a:p>
        </p:txBody>
      </p:sp>
      <p:sp>
        <p:nvSpPr>
          <p:cNvPr id="11" name="Text 9"/>
          <p:cNvSpPr/>
          <p:nvPr/>
        </p:nvSpPr>
        <p:spPr>
          <a:xfrm>
            <a:off x="1234440" y="2212848"/>
            <a:ext cx="25420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67B8D"/>
                </a:solidFill>
              </a:rPr>
              <a:t>Name the site, process area, allowed segment and stop conditions.</a:t>
            </a:r>
            <a:endParaRPr lang="en-US" sz="970" dirty="0"/>
          </a:p>
        </p:txBody>
      </p:sp>
      <p:sp>
        <p:nvSpPr>
          <p:cNvPr id="12" name="Shape 10"/>
          <p:cNvSpPr/>
          <p:nvPr/>
        </p:nvSpPr>
        <p:spPr>
          <a:xfrm>
            <a:off x="4389120" y="1700784"/>
            <a:ext cx="33832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1865376"/>
            <a:ext cx="384048" cy="384048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12" y="1965960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56632" y="1847088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b="1" dirty="0">
                <a:solidFill>
                  <a:srgbClr val="0A2033"/>
                </a:solidFill>
              </a:rPr>
              <a:t>Collect</a:t>
            </a:r>
            <a:endParaRPr lang="en-US" sz="1370" dirty="0"/>
          </a:p>
        </p:txBody>
      </p:sp>
      <p:sp>
        <p:nvSpPr>
          <p:cNvPr id="16" name="Text 14"/>
          <p:cNvSpPr/>
          <p:nvPr/>
        </p:nvSpPr>
        <p:spPr>
          <a:xfrm>
            <a:off x="5056632" y="2212848"/>
            <a:ext cx="25420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67B8D"/>
                </a:solidFill>
              </a:rPr>
              <a:t>Start with passive capture or an approved evidence import.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8211312" y="1700784"/>
            <a:ext cx="33832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75904" y="1865376"/>
            <a:ext cx="384048" cy="384048"/>
          </a:xfrm>
          <a:prstGeom prst="ellipse">
            <a:avLst/>
          </a:prstGeom>
          <a:solidFill>
            <a:srgbClr val="0A8F88"/>
          </a:solidFill>
          <a:ln w="12700">
            <a:solidFill>
              <a:srgbClr val="0A8F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5904" y="1965960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78824" y="1847088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b="1" dirty="0">
                <a:solidFill>
                  <a:srgbClr val="0A2033"/>
                </a:solidFill>
              </a:rPr>
              <a:t>Review</a:t>
            </a:r>
            <a:endParaRPr lang="en-US" sz="1370" dirty="0"/>
          </a:p>
        </p:txBody>
      </p:sp>
      <p:sp>
        <p:nvSpPr>
          <p:cNvPr id="21" name="Text 19"/>
          <p:cNvSpPr/>
          <p:nvPr/>
        </p:nvSpPr>
        <p:spPr>
          <a:xfrm>
            <a:off x="8878824" y="2212848"/>
            <a:ext cx="25420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67B8D"/>
                </a:solidFill>
              </a:rPr>
              <a:t>Observations enter a queue; the analyst decides what is credible.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566928" y="3383280"/>
            <a:ext cx="33832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3547872"/>
            <a:ext cx="384048" cy="384048"/>
          </a:xfrm>
          <a:prstGeom prst="ellipse">
            <a:avLst/>
          </a:prstGeom>
          <a:solidFill>
            <a:srgbClr val="0A8F88"/>
          </a:solidFill>
          <a:ln w="12700">
            <a:solidFill>
              <a:srgbClr val="0A8F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648456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234440" y="3529584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b="1" dirty="0">
                <a:solidFill>
                  <a:srgbClr val="0A2033"/>
                </a:solidFill>
              </a:rPr>
              <a:t>Reconcile</a:t>
            </a:r>
            <a:endParaRPr lang="en-US" sz="1370" dirty="0"/>
          </a:p>
        </p:txBody>
      </p:sp>
      <p:sp>
        <p:nvSpPr>
          <p:cNvPr id="26" name="Text 24"/>
          <p:cNvSpPr/>
          <p:nvPr/>
        </p:nvSpPr>
        <p:spPr>
          <a:xfrm>
            <a:off x="1234440" y="3895344"/>
            <a:ext cx="25420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67B8D"/>
                </a:solidFill>
              </a:rPr>
              <a:t>Compare evidence with the customer inventory and surface gaps/conflicts.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4389120" y="3383280"/>
            <a:ext cx="33832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3547872"/>
            <a:ext cx="384048" cy="384048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3648456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5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56632" y="3529584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b="1" dirty="0">
                <a:solidFill>
                  <a:srgbClr val="0A2033"/>
                </a:solidFill>
              </a:rPr>
              <a:t>Close one gap</a:t>
            </a:r>
            <a:endParaRPr lang="en-US" sz="1370" dirty="0"/>
          </a:p>
        </p:txBody>
      </p:sp>
      <p:sp>
        <p:nvSpPr>
          <p:cNvPr id="31" name="Text 29"/>
          <p:cNvSpPr/>
          <p:nvPr/>
        </p:nvSpPr>
        <p:spPr>
          <a:xfrm>
            <a:off x="5056632" y="3895344"/>
            <a:ext cx="25420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67B8D"/>
                </a:solidFill>
              </a:rPr>
              <a:t>Use one exact active identity request only when passive evidence is insufficient.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8211312" y="3383280"/>
            <a:ext cx="33832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75904" y="3547872"/>
            <a:ext cx="384048" cy="384048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75904" y="3648456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6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878824" y="3529584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b="1" dirty="0">
                <a:solidFill>
                  <a:srgbClr val="0A2033"/>
                </a:solidFill>
              </a:rPr>
              <a:t>Handoff</a:t>
            </a:r>
            <a:endParaRPr lang="en-US" sz="1370" dirty="0"/>
          </a:p>
        </p:txBody>
      </p:sp>
      <p:sp>
        <p:nvSpPr>
          <p:cNvPr id="36" name="Text 34"/>
          <p:cNvSpPr/>
          <p:nvPr/>
        </p:nvSpPr>
        <p:spPr>
          <a:xfrm>
            <a:off x="8878824" y="3895344"/>
            <a:ext cx="25420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67B8D"/>
                </a:solidFill>
              </a:rPr>
              <a:t>Draft evidence-linked findings and show what still blocks completion.</a:t>
            </a:r>
            <a:endParaRPr lang="en-US" sz="970" dirty="0"/>
          </a:p>
        </p:txBody>
      </p:sp>
      <p:sp>
        <p:nvSpPr>
          <p:cNvPr id="37" name="Shape 35"/>
          <p:cNvSpPr/>
          <p:nvPr/>
        </p:nvSpPr>
        <p:spPr>
          <a:xfrm>
            <a:off x="3968496" y="2423160"/>
            <a:ext cx="310896" cy="0"/>
          </a:xfrm>
          <a:prstGeom prst="line">
            <a:avLst/>
          </a:prstGeom>
          <a:noFill/>
          <a:ln w="16510">
            <a:solidFill>
              <a:srgbClr val="9EB1BE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790688" y="2423160"/>
            <a:ext cx="310896" cy="0"/>
          </a:xfrm>
          <a:prstGeom prst="line">
            <a:avLst/>
          </a:prstGeom>
          <a:noFill/>
          <a:ln w="16510">
            <a:solidFill>
              <a:srgbClr val="9EB1BE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968496" y="4105656"/>
            <a:ext cx="310896" cy="0"/>
          </a:xfrm>
          <a:prstGeom prst="line">
            <a:avLst/>
          </a:prstGeom>
          <a:noFill/>
          <a:ln w="16510">
            <a:solidFill>
              <a:srgbClr val="9EB1BE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790688" y="4105656"/>
            <a:ext cx="310896" cy="0"/>
          </a:xfrm>
          <a:prstGeom prst="line">
            <a:avLst/>
          </a:prstGeom>
          <a:noFill/>
          <a:ln w="16510">
            <a:solidFill>
              <a:srgbClr val="9EB1BE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49808" y="5248656"/>
            <a:ext cx="10680192" cy="566928"/>
          </a:xfrm>
          <a:prstGeom prst="roundRect">
            <a:avLst>
              <a:gd name="adj" fmla="val 8065"/>
            </a:avLst>
          </a:prstGeom>
          <a:solidFill>
            <a:srgbClr val="E9F8FA"/>
          </a:solidFill>
          <a:ln w="12700">
            <a:solidFill>
              <a:srgbClr val="BDE9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" y="5431536"/>
            <a:ext cx="10195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0A8F88"/>
                </a:solidFill>
              </a:rPr>
              <a:t>The product does not treat “observed” as “true.” Every important state change keeps the evidence and the analyst decision visible.</a:t>
            </a:r>
            <a:endParaRPr lang="en-US" sz="121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06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It starts passive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Use an existing capture or an approved SPAN/TAP window before asking the network to answer anything.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635508" y="1568196"/>
            <a:ext cx="2024482" cy="4398264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C8192">
                <a:alpha val="12000"/>
              </a:srgbClr>
            </a:outerShdw>
          </a:effectLst>
        </p:spPr>
      </p:sp>
      <p:pic>
        <p:nvPicPr>
          <p:cNvPr id="8" name="Image 0" descr="/home/runner/work/mobile-ot-security-assessment/mobile-ot-security-assessment/docs/user-guide/screenshots/04-collection-methods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609344"/>
            <a:ext cx="1942186" cy="43159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12064" y="6035040"/>
            <a:ext cx="2271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67B8D"/>
                </a:solidFill>
              </a:rPr>
              <a:t>Choose the least intrusive method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3095244" y="1568196"/>
            <a:ext cx="2024482" cy="4398264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12700">
            <a:solidFill>
              <a:srgbClr val="13B7C8"/>
            </a:solidFill>
            <a:prstDash val="solid"/>
          </a:ln>
          <a:effectLst>
            <a:outerShdw sx="100000" sy="100000" kx="0" ky="0" algn="bl" rotWithShape="0" blurRad="12700" dist="50800" dir="2700000">
              <a:srgbClr val="6C8192">
                <a:alpha val="12000"/>
              </a:srgbClr>
            </a:outerShdw>
          </a:effectLst>
        </p:spPr>
      </p:sp>
      <p:pic>
        <p:nvPicPr>
          <p:cNvPr id="11" name="Image 1" descr="/home/runner/work/mobile-ot-security-assessment/mobile-ot-security-assessment/docs/user-guide/screenshots/06-live-span-result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392" y="1609344"/>
            <a:ext cx="1942186" cy="43159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71800" y="6035040"/>
            <a:ext cx="2271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67B8D"/>
                </a:solidFill>
              </a:rPr>
              <a:t>Review observations before accepting them</a:t>
            </a:r>
            <a:endParaRPr lang="en-US" sz="770" dirty="0"/>
          </a:p>
        </p:txBody>
      </p:sp>
      <p:sp>
        <p:nvSpPr>
          <p:cNvPr id="13" name="Shape 9"/>
          <p:cNvSpPr/>
          <p:nvPr/>
        </p:nvSpPr>
        <p:spPr>
          <a:xfrm>
            <a:off x="5797296" y="1728216"/>
            <a:ext cx="5650992" cy="4261104"/>
          </a:xfrm>
          <a:prstGeom prst="roundRect">
            <a:avLst>
              <a:gd name="adj" fmla="val 1717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108192" y="199339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9F8FA"/>
          </a:solidFill>
          <a:ln w="12700">
            <a:solidFill>
              <a:srgbClr val="E9F8F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172200" y="2061972"/>
            <a:ext cx="15910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A8F88"/>
                </a:solidFill>
              </a:rPr>
              <a:t>PASSIVE EVIDENCE PIPELINE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6126480" y="2532888"/>
            <a:ext cx="384048" cy="384048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126480" y="2633472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693408" y="2514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13283B"/>
                </a:solidFill>
              </a:rPr>
              <a:t>Approved source</a:t>
            </a:r>
            <a:endParaRPr lang="en-US" sz="1060" dirty="0"/>
          </a:p>
        </p:txBody>
      </p:sp>
      <p:sp>
        <p:nvSpPr>
          <p:cNvPr id="19" name="Text 15"/>
          <p:cNvSpPr/>
          <p:nvPr/>
        </p:nvSpPr>
        <p:spPr>
          <a:xfrm>
            <a:off x="8275320" y="251460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B8D"/>
                </a:solidFill>
              </a:rPr>
              <a:t>SPAN/TAP or imported PCAP/PCAPNG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318504" y="2971800"/>
            <a:ext cx="0" cy="219456"/>
          </a:xfrm>
          <a:prstGeom prst="line">
            <a:avLst/>
          </a:prstGeom>
          <a:noFill/>
          <a:ln w="15240">
            <a:solidFill>
              <a:srgbClr val="B8C9D3"/>
            </a:solidFill>
            <a:prstDash val="solid"/>
            <a:headEnd type="none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26480" y="3264408"/>
            <a:ext cx="384048" cy="384048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126480" y="3364992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693408" y="3246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13283B"/>
                </a:solidFill>
              </a:rPr>
              <a:t>Seal the bytes</a:t>
            </a:r>
            <a:endParaRPr lang="en-US" sz="1060" dirty="0"/>
          </a:p>
        </p:txBody>
      </p:sp>
      <p:sp>
        <p:nvSpPr>
          <p:cNvPr id="24" name="Text 20"/>
          <p:cNvSpPr/>
          <p:nvPr/>
        </p:nvSpPr>
        <p:spPr>
          <a:xfrm>
            <a:off x="8275320" y="324612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B8D"/>
                </a:solidFill>
              </a:rPr>
              <a:t>Size limits, hash and provenance retained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318504" y="3703320"/>
            <a:ext cx="0" cy="219456"/>
          </a:xfrm>
          <a:prstGeom prst="line">
            <a:avLst/>
          </a:prstGeom>
          <a:noFill/>
          <a:ln w="15240">
            <a:solidFill>
              <a:srgbClr val="B8C9D3"/>
            </a:solidFill>
            <a:prstDash val="solid"/>
            <a:headEnd type="none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6126480" y="3995928"/>
            <a:ext cx="384048" cy="384048"/>
          </a:xfrm>
          <a:prstGeom prst="ellipse">
            <a:avLst/>
          </a:prstGeom>
          <a:solidFill>
            <a:srgbClr val="0A8F88"/>
          </a:solidFill>
          <a:ln w="12700">
            <a:solidFill>
              <a:srgbClr val="0A8F8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126480" y="4096512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693408" y="3977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13283B"/>
                </a:solidFill>
              </a:rPr>
              <a:t>Parse in isolation</a:t>
            </a:r>
            <a:endParaRPr lang="en-US" sz="1060" dirty="0"/>
          </a:p>
        </p:txBody>
      </p:sp>
      <p:sp>
        <p:nvSpPr>
          <p:cNvPr id="29" name="Text 25"/>
          <p:cNvSpPr/>
          <p:nvPr/>
        </p:nvSpPr>
        <p:spPr>
          <a:xfrm>
            <a:off x="8275320" y="397764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B8D"/>
                </a:solidFill>
              </a:rPr>
              <a:t>Endpoints, protocols, roles and confidence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318504" y="4434840"/>
            <a:ext cx="0" cy="219456"/>
          </a:xfrm>
          <a:prstGeom prst="line">
            <a:avLst/>
          </a:prstGeom>
          <a:noFill/>
          <a:ln w="15240">
            <a:solidFill>
              <a:srgbClr val="B8C9D3"/>
            </a:solidFill>
            <a:prstDash val="solid"/>
            <a:headEnd type="none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26480" y="4727448"/>
            <a:ext cx="384048" cy="384048"/>
          </a:xfrm>
          <a:prstGeom prst="ellipse">
            <a:avLst/>
          </a:prstGeom>
          <a:solidFill>
            <a:srgbClr val="0A8F88"/>
          </a:solidFill>
          <a:ln w="12700">
            <a:solidFill>
              <a:srgbClr val="0A8F8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126480" y="4828032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6693408" y="47091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13283B"/>
                </a:solidFill>
              </a:rPr>
              <a:t>Human review</a:t>
            </a:r>
            <a:endParaRPr lang="en-US" sz="1060" dirty="0"/>
          </a:p>
        </p:txBody>
      </p:sp>
      <p:sp>
        <p:nvSpPr>
          <p:cNvPr id="34" name="Text 30"/>
          <p:cNvSpPr/>
          <p:nvPr/>
        </p:nvSpPr>
        <p:spPr>
          <a:xfrm>
            <a:off x="8275320" y="470916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B8D"/>
                </a:solidFill>
              </a:rPr>
              <a:t>Accept only observations worth defending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126480" y="5504688"/>
            <a:ext cx="4718304" cy="365760"/>
          </a:xfrm>
          <a:prstGeom prst="roundRect">
            <a:avLst>
              <a:gd name="adj" fmla="val 12500"/>
            </a:avLst>
          </a:prstGeom>
          <a:solidFill>
            <a:srgbClr val="EAF7F2"/>
          </a:solidFill>
          <a:ln w="12700">
            <a:solidFill>
              <a:srgbClr val="C6E7DA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291072" y="5614416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87A62"/>
                </a:solidFill>
              </a:rPr>
              <a:t>Passive mode does not inject packets. Accepted observations are a human decision.</a:t>
            </a:r>
            <a:endParaRPr lang="en-US" sz="920" dirty="0"/>
          </a:p>
        </p:txBody>
      </p:sp>
      <p:sp>
        <p:nvSpPr>
          <p:cNvPr id="37" name="Text 33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07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When passive is not enough, active behavior stays narrow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The current active function is one exact Modbus device-identification request to one approved target - and it fails closed on scope.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635508" y="1577340"/>
            <a:ext cx="1995678" cy="4334256"/>
          </a:xfrm>
          <a:prstGeom prst="roundRect">
            <a:avLst>
              <a:gd name="adj" fmla="val 2291"/>
            </a:avLst>
          </a:prstGeom>
          <a:solidFill>
            <a:srgbClr val="FFFFFF"/>
          </a:solidFill>
          <a:ln w="12700">
            <a:solidFill>
              <a:srgbClr val="B74242"/>
            </a:solidFill>
            <a:prstDash val="solid"/>
          </a:ln>
          <a:effectLst>
            <a:outerShdw sx="100000" sy="100000" kx="0" ky="0" algn="bl" rotWithShape="0" blurRad="12700" dist="50800" dir="2700000">
              <a:srgbClr val="6C8192">
                <a:alpha val="12000"/>
              </a:srgbClr>
            </a:outerShdw>
          </a:effectLst>
        </p:spPr>
      </p:sp>
      <p:pic>
        <p:nvPicPr>
          <p:cNvPr id="8" name="Image 0" descr="/home/runner/work/mobile-ot-security-assessment/mobile-ot-security-assessment/docs/user-guide/screenshots/06-out-of-scope-blocked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618488"/>
            <a:ext cx="1913382" cy="42519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12064" y="5980176"/>
            <a:ext cx="22425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67B8D"/>
                </a:solidFill>
              </a:rPr>
              <a:t>Out-of-scope target is blocked locally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3086100" y="1577340"/>
            <a:ext cx="1995678" cy="4334256"/>
          </a:xfrm>
          <a:prstGeom prst="roundRect">
            <a:avLst>
              <a:gd name="adj" fmla="val 2291"/>
            </a:avLst>
          </a:prstGeom>
          <a:solidFill>
            <a:srgbClr val="FFFFFF"/>
          </a:solidFill>
          <a:ln w="12700">
            <a:solidFill>
              <a:srgbClr val="187A62"/>
            </a:solidFill>
            <a:prstDash val="solid"/>
          </a:ln>
          <a:effectLst>
            <a:outerShdw sx="100000" sy="100000" kx="0" ky="0" algn="bl" rotWithShape="0" blurRad="12700" dist="50800" dir="2700000">
              <a:srgbClr val="6C8192">
                <a:alpha val="12000"/>
              </a:srgbClr>
            </a:outerShdw>
          </a:effectLst>
        </p:spPr>
      </p:sp>
      <p:pic>
        <p:nvPicPr>
          <p:cNvPr id="11" name="Image 1" descr="/home/runner/work/mobile-ot-security-assessment/mobile-ot-security-assessment/docs/user-guide/screenshots/09-active-pymodbus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618488"/>
            <a:ext cx="1913382" cy="42519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62656" y="5980176"/>
            <a:ext cx="22425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67B8D"/>
                </a:solidFill>
              </a:rPr>
              <a:t>Authorized target returns identity evidence</a:t>
            </a:r>
            <a:endParaRPr lang="en-US" sz="770" dirty="0"/>
          </a:p>
        </p:txBody>
      </p:sp>
      <p:sp>
        <p:nvSpPr>
          <p:cNvPr id="13" name="Shape 9"/>
          <p:cNvSpPr/>
          <p:nvPr/>
        </p:nvSpPr>
        <p:spPr>
          <a:xfrm>
            <a:off x="5742432" y="1700784"/>
            <a:ext cx="2743200" cy="4315968"/>
          </a:xfrm>
          <a:prstGeom prst="roundRect">
            <a:avLst>
              <a:gd name="adj" fmla="val 2667"/>
            </a:avLst>
          </a:prstGeom>
          <a:solidFill>
            <a:srgbClr val="EAF7F2"/>
          </a:solidFill>
          <a:ln w="12700">
            <a:solidFill>
              <a:srgbClr val="CAE8DC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016752" y="1975104"/>
            <a:ext cx="1143000" cy="283464"/>
          </a:xfrm>
          <a:prstGeom prst="roundRect">
            <a:avLst>
              <a:gd name="adj" fmla="val 25806"/>
            </a:avLst>
          </a:prstGeom>
          <a:solidFill>
            <a:srgbClr val="DDF3EA"/>
          </a:solidFill>
          <a:ln w="12700">
            <a:solidFill>
              <a:srgbClr val="DDF3E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080760" y="2043684"/>
            <a:ext cx="10149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87A62"/>
                </a:solidFill>
              </a:rPr>
              <a:t>WHAT IT MAY DO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6016752" y="2688336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181344" y="2596896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One explicit IP target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016752" y="3218688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181344" y="3127248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One explicit authorized CIDR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6016752" y="3749040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181344" y="3657600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One Modbus FC 43 / MEI 14 basic identity request</a:t>
            </a:r>
            <a:endParaRPr lang="en-US" sz="1020" dirty="0"/>
          </a:p>
        </p:txBody>
      </p:sp>
      <p:sp>
        <p:nvSpPr>
          <p:cNvPr id="22" name="Shape 18"/>
          <p:cNvSpPr/>
          <p:nvPr/>
        </p:nvSpPr>
        <p:spPr>
          <a:xfrm>
            <a:off x="6016752" y="4407408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181344" y="4315968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Short timeout and bounded response</a:t>
            </a:r>
            <a:endParaRPr lang="en-US" sz="1020" dirty="0"/>
          </a:p>
        </p:txBody>
      </p:sp>
      <p:sp>
        <p:nvSpPr>
          <p:cNvPr id="24" name="Shape 20"/>
          <p:cNvSpPr/>
          <p:nvPr/>
        </p:nvSpPr>
        <p:spPr>
          <a:xfrm>
            <a:off x="6016752" y="4937760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181344" y="4846320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Review the result before inventory changes</a:t>
            </a:r>
            <a:endParaRPr lang="en-US" sz="1020" dirty="0"/>
          </a:p>
        </p:txBody>
      </p:sp>
      <p:sp>
        <p:nvSpPr>
          <p:cNvPr id="26" name="Shape 22"/>
          <p:cNvSpPr/>
          <p:nvPr/>
        </p:nvSpPr>
        <p:spPr>
          <a:xfrm>
            <a:off x="8668512" y="1700784"/>
            <a:ext cx="2743200" cy="4315968"/>
          </a:xfrm>
          <a:prstGeom prst="roundRect">
            <a:avLst>
              <a:gd name="adj" fmla="val 2667"/>
            </a:avLst>
          </a:prstGeom>
          <a:solidFill>
            <a:srgbClr val="FCEBEB"/>
          </a:solidFill>
          <a:ln w="12700">
            <a:solidFill>
              <a:srgbClr val="F2BFBF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942832" y="1975104"/>
            <a:ext cx="1353312" cy="283464"/>
          </a:xfrm>
          <a:prstGeom prst="roundRect">
            <a:avLst>
              <a:gd name="adj" fmla="val 25806"/>
            </a:avLst>
          </a:prstGeom>
          <a:solidFill>
            <a:srgbClr val="F9D7D7"/>
          </a:solidFill>
          <a:ln w="12700">
            <a:solidFill>
              <a:srgbClr val="F9D7D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006840" y="2043684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B74242"/>
                </a:solidFill>
              </a:rPr>
              <a:t>WHAT IT DOES NOT DO</a:t>
            </a:r>
            <a:endParaRPr lang="en-US" sz="750" dirty="0"/>
          </a:p>
        </p:txBody>
      </p:sp>
      <p:sp>
        <p:nvSpPr>
          <p:cNvPr id="29" name="Shape 25"/>
          <p:cNvSpPr/>
          <p:nvPr/>
        </p:nvSpPr>
        <p:spPr>
          <a:xfrm>
            <a:off x="8942832" y="2688336"/>
            <a:ext cx="82296" cy="82296"/>
          </a:xfrm>
          <a:prstGeom prst="ellipse">
            <a:avLst/>
          </a:prstGeom>
          <a:solidFill>
            <a:srgbClr val="B74242"/>
          </a:solidFill>
          <a:ln w="12700">
            <a:solidFill>
              <a:srgbClr val="B74242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107424" y="2596896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No subnet or port scan</a:t>
            </a:r>
            <a:endParaRPr lang="en-US" sz="1020" dirty="0"/>
          </a:p>
        </p:txBody>
      </p:sp>
      <p:sp>
        <p:nvSpPr>
          <p:cNvPr id="31" name="Shape 27"/>
          <p:cNvSpPr/>
          <p:nvPr/>
        </p:nvSpPr>
        <p:spPr>
          <a:xfrm>
            <a:off x="8942832" y="3218688"/>
            <a:ext cx="82296" cy="82296"/>
          </a:xfrm>
          <a:prstGeom prst="ellipse">
            <a:avLst/>
          </a:prstGeom>
          <a:solidFill>
            <a:srgbClr val="B74242"/>
          </a:solidFill>
          <a:ln w="12700">
            <a:solidFill>
              <a:srgbClr val="B7424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107424" y="3127248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No unit-ID sweep</a:t>
            </a:r>
            <a:endParaRPr lang="en-US" sz="1020" dirty="0"/>
          </a:p>
        </p:txBody>
      </p:sp>
      <p:sp>
        <p:nvSpPr>
          <p:cNvPr id="33" name="Shape 29"/>
          <p:cNvSpPr/>
          <p:nvPr/>
        </p:nvSpPr>
        <p:spPr>
          <a:xfrm>
            <a:off x="8942832" y="3749040"/>
            <a:ext cx="82296" cy="82296"/>
          </a:xfrm>
          <a:prstGeom prst="ellipse">
            <a:avLst/>
          </a:prstGeom>
          <a:solidFill>
            <a:srgbClr val="B74242"/>
          </a:solidFill>
          <a:ln w="12700">
            <a:solidFill>
              <a:srgbClr val="B7424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9107424" y="3657600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No register read or write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8942832" y="4279392"/>
            <a:ext cx="82296" cy="82296"/>
          </a:xfrm>
          <a:prstGeom prst="ellipse">
            <a:avLst/>
          </a:prstGeom>
          <a:solidFill>
            <a:srgbClr val="B74242"/>
          </a:solidFill>
          <a:ln w="12700">
            <a:solidFill>
              <a:srgbClr val="B74242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107424" y="4187952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No credentials or exploit checks</a:t>
            </a:r>
            <a:endParaRPr lang="en-US" sz="1020" dirty="0"/>
          </a:p>
        </p:txBody>
      </p:sp>
      <p:sp>
        <p:nvSpPr>
          <p:cNvPr id="37" name="Shape 33"/>
          <p:cNvSpPr/>
          <p:nvPr/>
        </p:nvSpPr>
        <p:spPr>
          <a:xfrm>
            <a:off x="8942832" y="4809744"/>
            <a:ext cx="82296" cy="82296"/>
          </a:xfrm>
          <a:prstGeom prst="ellipse">
            <a:avLst/>
          </a:prstGeom>
          <a:solidFill>
            <a:srgbClr val="B74242"/>
          </a:solidFill>
          <a:ln w="12700">
            <a:solidFill>
              <a:srgbClr val="B74242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107424" y="4718304"/>
            <a:ext cx="2011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3283B"/>
                </a:solidFill>
              </a:rPr>
              <a:t>No scope broadening to make a test pass</a:t>
            </a:r>
            <a:endParaRPr lang="en-US" sz="1020" dirty="0"/>
          </a:p>
        </p:txBody>
      </p:sp>
      <p:sp>
        <p:nvSpPr>
          <p:cNvPr id="39" name="Text 35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08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What the prospect gets from the 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Not a scanner export - a reviewable evidence pack that shows what changed, what is supported and what still needs work.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672084" y="1586484"/>
            <a:ext cx="2036826" cy="4425696"/>
          </a:xfrm>
          <a:prstGeom prst="roundRect">
            <a:avLst>
              <a:gd name="adj" fmla="val 2245"/>
            </a:avLst>
          </a:prstGeom>
          <a:solidFill>
            <a:srgbClr val="FFFFFF"/>
          </a:solidFill>
          <a:ln w="12700">
            <a:solidFill>
              <a:srgbClr val="13B7C8"/>
            </a:solidFill>
            <a:prstDash val="solid"/>
          </a:ln>
          <a:effectLst>
            <a:outerShdw sx="100000" sy="100000" kx="0" ky="0" algn="bl" rotWithShape="0" blurRad="12700" dist="50800" dir="2700000">
              <a:srgbClr val="6C8192">
                <a:alpha val="12000"/>
              </a:srgbClr>
            </a:outerShdw>
          </a:effectLst>
        </p:spPr>
      </p:sp>
      <p:pic>
        <p:nvPicPr>
          <p:cNvPr id="8" name="Image 0" descr="/home/runner/work/mobile-ot-security-assessment/mobile-ot-security-assessment/docs/user-guide/screenshots/07-asset-inventory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27632"/>
            <a:ext cx="195453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6080760"/>
            <a:ext cx="2283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67B8D"/>
                </a:solidFill>
              </a:rPr>
              <a:t>Reconciled asset view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3204972" y="1586484"/>
            <a:ext cx="2036826" cy="4425696"/>
          </a:xfrm>
          <a:prstGeom prst="roundRect">
            <a:avLst>
              <a:gd name="adj" fmla="val 2245"/>
            </a:avLst>
          </a:prstGeom>
          <a:solidFill>
            <a:srgbClr val="FFFFFF"/>
          </a:solidFill>
          <a:ln w="12700">
            <a:solidFill>
              <a:srgbClr val="C57B18"/>
            </a:solidFill>
            <a:prstDash val="solid"/>
          </a:ln>
          <a:effectLst>
            <a:outerShdw sx="100000" sy="100000" kx="0" ky="0" algn="bl" rotWithShape="0" blurRad="12700" dist="50800" dir="2700000">
              <a:srgbClr val="6C8192">
                <a:alpha val="12000"/>
              </a:srgbClr>
            </a:outerShdw>
          </a:effectLst>
        </p:spPr>
      </p:sp>
      <p:pic>
        <p:nvPicPr>
          <p:cNvPr id="11" name="Image 1" descr="/home/runner/work/mobile-ot-security-assessment/mobile-ot-security-assessment/docs/user-guide/screenshots/10-guided-report-readiness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627632"/>
            <a:ext cx="1954530" cy="4343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081528" y="6080760"/>
            <a:ext cx="2283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67B8D"/>
                </a:solidFill>
              </a:rPr>
              <a:t>Explicit readiness blockers</a:t>
            </a:r>
            <a:endParaRPr lang="en-US" sz="770" dirty="0"/>
          </a:p>
        </p:txBody>
      </p:sp>
      <p:sp>
        <p:nvSpPr>
          <p:cNvPr id="13" name="Shape 9"/>
          <p:cNvSpPr/>
          <p:nvPr/>
        </p:nvSpPr>
        <p:spPr>
          <a:xfrm>
            <a:off x="6016752" y="1773936"/>
            <a:ext cx="52852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016752" y="1773936"/>
            <a:ext cx="100584" cy="859536"/>
          </a:xfrm>
          <a:prstGeom prst="rect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309360" y="189280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spc="40" kern="0" dirty="0">
                <a:solidFill>
                  <a:srgbClr val="1E78D1"/>
                </a:solidFill>
              </a:rPr>
              <a:t>INVENTORY RECONCILIATION</a:t>
            </a:r>
            <a:endParaRPr lang="en-US" sz="870" dirty="0"/>
          </a:p>
        </p:txBody>
      </p:sp>
      <p:sp>
        <p:nvSpPr>
          <p:cNvPr id="16" name="Text 12"/>
          <p:cNvSpPr/>
          <p:nvPr/>
        </p:nvSpPr>
        <p:spPr>
          <a:xfrm>
            <a:off x="7973568" y="18653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3283B"/>
                </a:solidFill>
              </a:rPr>
              <a:t>Confirmed, probable, missing, unexpected and conflicting asset records.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016752" y="2816352"/>
            <a:ext cx="52852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016752" y="2816352"/>
            <a:ext cx="100584" cy="859536"/>
          </a:xfrm>
          <a:prstGeom prst="rect">
            <a:avLst/>
          </a:prstGeom>
          <a:solidFill>
            <a:srgbClr val="0A8F88"/>
          </a:solidFill>
          <a:ln w="12700">
            <a:solidFill>
              <a:srgbClr val="0A8F8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309360" y="293522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spc="40" kern="0" dirty="0">
                <a:solidFill>
                  <a:srgbClr val="0A8F88"/>
                </a:solidFill>
              </a:rPr>
              <a:t>EVIDENCE PROVENANCE</a:t>
            </a:r>
            <a:endParaRPr lang="en-US" sz="870" dirty="0"/>
          </a:p>
        </p:txBody>
      </p:sp>
      <p:sp>
        <p:nvSpPr>
          <p:cNvPr id="20" name="Text 16"/>
          <p:cNvSpPr/>
          <p:nvPr/>
        </p:nvSpPr>
        <p:spPr>
          <a:xfrm>
            <a:off x="7973568" y="2907792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3283B"/>
                </a:solidFill>
              </a:rPr>
              <a:t>Capture/source hashes, collection context, endpoint observations and confidence.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016752" y="3858768"/>
            <a:ext cx="52852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016752" y="3858768"/>
            <a:ext cx="100584" cy="859536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309360" y="397764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spc="40" kern="0" dirty="0">
                <a:solidFill>
                  <a:srgbClr val="13B7C8"/>
                </a:solidFill>
              </a:rPr>
              <a:t>DRAFT FINDINGS</a:t>
            </a:r>
            <a:endParaRPr lang="en-US" sz="870" dirty="0"/>
          </a:p>
        </p:txBody>
      </p:sp>
      <p:sp>
        <p:nvSpPr>
          <p:cNvPr id="24" name="Text 20"/>
          <p:cNvSpPr/>
          <p:nvPr/>
        </p:nvSpPr>
        <p:spPr>
          <a:xfrm>
            <a:off x="7973568" y="395020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3283B"/>
                </a:solidFill>
              </a:rPr>
              <a:t>Condition, affected asset, evidence references, confidence, limitations and recommended next action.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016752" y="4901184"/>
            <a:ext cx="52852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016752" y="4901184"/>
            <a:ext cx="100584" cy="859536"/>
          </a:xfrm>
          <a:prstGeom prst="rect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309360" y="50200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spc="40" kern="0" dirty="0">
                <a:solidFill>
                  <a:srgbClr val="C57B18"/>
                </a:solidFill>
              </a:rPr>
              <a:t>READINESS / GAPS</a:t>
            </a:r>
            <a:endParaRPr lang="en-US" sz="870" dirty="0"/>
          </a:p>
        </p:txBody>
      </p:sp>
      <p:sp>
        <p:nvSpPr>
          <p:cNvPr id="28" name="Text 24"/>
          <p:cNvSpPr/>
          <p:nvPr/>
        </p:nvSpPr>
        <p:spPr>
          <a:xfrm>
            <a:off x="7973568" y="499262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3283B"/>
                </a:solidFill>
              </a:rPr>
              <a:t>What is defensible now, what remains unresolved and what is needed before a formal handoff.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6108192" y="599846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67B8D"/>
                </a:solidFill>
              </a:rPr>
              <a:t>The current prototype produces these views and evidence states. Production signing/export packaging is still a release gate.</a:t>
            </a:r>
            <a:endParaRPr lang="en-US" sz="86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09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Designed to fail closed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Network and parsing authority are separated so the general application cannot silently become an unrestricted network tool.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658368" y="1938528"/>
            <a:ext cx="205740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121408"/>
            <a:ext cx="1005840" cy="283464"/>
          </a:xfrm>
          <a:prstGeom prst="roundRect">
            <a:avLst>
              <a:gd name="adj" fmla="val 25806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5256" y="2189988"/>
            <a:ext cx="877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E78D1"/>
                </a:solidFill>
              </a:rPr>
              <a:t>NO INTERNET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41248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0A2033"/>
                </a:solidFill>
              </a:rPr>
              <a:t>CASE APP</a:t>
            </a:r>
            <a:endParaRPr lang="en-US" sz="1360" dirty="0"/>
          </a:p>
        </p:txBody>
      </p:sp>
      <p:sp>
        <p:nvSpPr>
          <p:cNvPr id="11" name="Text 9"/>
          <p:cNvSpPr/>
          <p:nvPr/>
        </p:nvSpPr>
        <p:spPr>
          <a:xfrm>
            <a:off x="841248" y="30175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67B8D"/>
                </a:solidFill>
              </a:rPr>
              <a:t>Scope, approvals, evidence model, review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88920" y="2944368"/>
            <a:ext cx="365760" cy="0"/>
          </a:xfrm>
          <a:prstGeom prst="line">
            <a:avLst/>
          </a:prstGeom>
          <a:noFill/>
          <a:ln w="17780">
            <a:solidFill>
              <a:srgbClr val="9AB1BF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36392" y="1938528"/>
            <a:ext cx="205740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19272" y="2121408"/>
            <a:ext cx="1005840" cy="283464"/>
          </a:xfrm>
          <a:prstGeom prst="roundRect">
            <a:avLst>
              <a:gd name="adj" fmla="val 25806"/>
            </a:avLst>
          </a:prstGeom>
          <a:solidFill>
            <a:srgbClr val="E9F8FA"/>
          </a:solidFill>
          <a:ln w="12700">
            <a:solidFill>
              <a:srgbClr val="E9F8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2189988"/>
            <a:ext cx="877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A8F88"/>
                </a:solidFill>
              </a:rPr>
              <a:t>PASSIVE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319272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0A2033"/>
                </a:solidFill>
              </a:rPr>
              <a:t>CAPTURE BROKER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3319272" y="30175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67B8D"/>
                </a:solidFill>
              </a:rPr>
              <a:t>Bounded receive-only PCAP stream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266944" y="2944368"/>
            <a:ext cx="365760" cy="0"/>
          </a:xfrm>
          <a:prstGeom prst="line">
            <a:avLst/>
          </a:prstGeom>
          <a:noFill/>
          <a:ln w="17780">
            <a:solidFill>
              <a:srgbClr val="9AB1BF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14416" y="1938528"/>
            <a:ext cx="205740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797296" y="2121408"/>
            <a:ext cx="1005840" cy="283464"/>
          </a:xfrm>
          <a:prstGeom prst="roundRect">
            <a:avLst>
              <a:gd name="adj" fmla="val 25806"/>
            </a:avLst>
          </a:prstGeom>
          <a:solidFill>
            <a:srgbClr val="E8F9FB"/>
          </a:solidFill>
          <a:ln w="12700">
            <a:solidFill>
              <a:srgbClr val="E8F9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61304" y="2189988"/>
            <a:ext cx="877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3B7C8"/>
                </a:solidFill>
              </a:rPr>
              <a:t>NO NETWORK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797296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0A2033"/>
                </a:solidFill>
              </a:rPr>
              <a:t>ISOLATED PARSER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5797296" y="30175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67B8D"/>
                </a:solidFill>
              </a:rPr>
              <a:t>Turns sealed bytes into proposed observations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744968" y="2944368"/>
            <a:ext cx="365760" cy="0"/>
          </a:xfrm>
          <a:prstGeom prst="line">
            <a:avLst/>
          </a:prstGeom>
          <a:noFill/>
          <a:ln w="17780">
            <a:solidFill>
              <a:srgbClr val="9AB1B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92440" y="1938528"/>
            <a:ext cx="205740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75320" y="2121408"/>
            <a:ext cx="1005840" cy="283464"/>
          </a:xfrm>
          <a:prstGeom prst="roundRect">
            <a:avLst>
              <a:gd name="adj" fmla="val 25806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39328" y="2189988"/>
            <a:ext cx="877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87A62"/>
                </a:solidFill>
              </a:rPr>
              <a:t>BOUNDED ACTIVE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275320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0A2033"/>
                </a:solidFill>
              </a:rPr>
              <a:t>NETWORK BROKER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8275320" y="30175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67B8D"/>
                </a:solidFill>
              </a:rPr>
              <a:t>Verifies a signed one-use grant and runs one compiled identity operation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488168" y="1938528"/>
            <a:ext cx="1005840" cy="1993392"/>
          </a:xfrm>
          <a:prstGeom prst="roundRect">
            <a:avLst>
              <a:gd name="adj" fmla="val 7273"/>
            </a:avLst>
          </a:prstGeom>
          <a:solidFill>
            <a:srgbClr val="112B41"/>
          </a:solidFill>
          <a:ln w="12700">
            <a:solidFill>
              <a:srgbClr val="112B41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643616" y="2596896"/>
            <a:ext cx="69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SEGMENT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149840" y="2944368"/>
            <a:ext cx="320040" cy="0"/>
          </a:xfrm>
          <a:prstGeom prst="line">
            <a:avLst/>
          </a:prstGeom>
          <a:noFill/>
          <a:ln w="20320">
            <a:solidFill>
              <a:srgbClr val="187A62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9808" y="4407408"/>
            <a:ext cx="2496312" cy="1097280"/>
          </a:xfrm>
          <a:prstGeom prst="roundRect">
            <a:avLst>
              <a:gd name="adj" fmla="val 6667"/>
            </a:avLst>
          </a:prstGeom>
          <a:solidFill>
            <a:srgbClr val="EAF3FC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14400" y="459943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Signed, short-lived one-use grants</a:t>
            </a:r>
            <a:endParaRPr lang="en-US" sz="1040" dirty="0"/>
          </a:p>
        </p:txBody>
      </p:sp>
      <p:sp>
        <p:nvSpPr>
          <p:cNvPr id="35" name="Text 33"/>
          <p:cNvSpPr/>
          <p:nvPr/>
        </p:nvSpPr>
        <p:spPr>
          <a:xfrm>
            <a:off x="914400" y="4956048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B8D"/>
                </a:solidFill>
              </a:rPr>
              <a:t>exact target, scope and ceilings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3520440" y="4407408"/>
            <a:ext cx="2496312" cy="1097280"/>
          </a:xfrm>
          <a:prstGeom prst="roundRect">
            <a:avLst>
              <a:gd name="adj" fmla="val 6667"/>
            </a:avLst>
          </a:prstGeom>
          <a:solidFill>
            <a:srgbClr val="E9F8FA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685032" y="459943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Receive-only passive boundary</a:t>
            </a:r>
            <a:endParaRPr lang="en-US" sz="1040" dirty="0"/>
          </a:p>
        </p:txBody>
      </p:sp>
      <p:sp>
        <p:nvSpPr>
          <p:cNvPr id="38" name="Text 36"/>
          <p:cNvSpPr/>
          <p:nvPr/>
        </p:nvSpPr>
        <p:spPr>
          <a:xfrm>
            <a:off x="3685032" y="4956048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B8D"/>
                </a:solidFill>
              </a:rPr>
              <a:t>no packet-send calls in the capture daemon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6291072" y="4407408"/>
            <a:ext cx="2496312" cy="1097280"/>
          </a:xfrm>
          <a:prstGeom prst="roundRect">
            <a:avLst>
              <a:gd name="adj" fmla="val 6667"/>
            </a:avLst>
          </a:prstGeom>
          <a:solidFill>
            <a:srgbClr val="EAF7F2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455664" y="459943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Analyst acceptance gate</a:t>
            </a:r>
            <a:endParaRPr lang="en-US" sz="1040" dirty="0"/>
          </a:p>
        </p:txBody>
      </p:sp>
      <p:sp>
        <p:nvSpPr>
          <p:cNvPr id="41" name="Text 39"/>
          <p:cNvSpPr/>
          <p:nvPr/>
        </p:nvSpPr>
        <p:spPr>
          <a:xfrm>
            <a:off x="6455664" y="4956048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B8D"/>
                </a:solidFill>
              </a:rPr>
              <a:t>observations do not silently become assets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9061704" y="4407408"/>
            <a:ext cx="2496312" cy="1097280"/>
          </a:xfrm>
          <a:prstGeom prst="roundRect">
            <a:avLst>
              <a:gd name="adj" fmla="val 6667"/>
            </a:avLst>
          </a:prstGeom>
          <a:solidFill>
            <a:srgbClr val="FFF4D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226296" y="459943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Explicit report blockers</a:t>
            </a:r>
            <a:endParaRPr lang="en-US" sz="1040" dirty="0"/>
          </a:p>
        </p:txBody>
      </p:sp>
      <p:sp>
        <p:nvSpPr>
          <p:cNvPr id="44" name="Text 42"/>
          <p:cNvSpPr/>
          <p:nvPr/>
        </p:nvSpPr>
        <p:spPr>
          <a:xfrm>
            <a:off x="9226296" y="4956048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B8D"/>
                </a:solidFill>
              </a:rPr>
              <a:t>incomplete approvals cannot look “finished”</a:t>
            </a:r>
            <a:endParaRPr lang="en-US" sz="820" dirty="0"/>
          </a:p>
        </p:txBody>
      </p:sp>
      <p:sp>
        <p:nvSpPr>
          <p:cNvPr id="45" name="Text 43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See the real workflow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This is the running Android application, recorded continuously - not a screenshot animation. In PowerPoint, click the video to play it.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585216" y="1609344"/>
            <a:ext cx="6446520" cy="4507992"/>
          </a:xfrm>
          <a:prstGeom prst="roundRect">
            <a:avLst>
              <a:gd name="adj" fmla="val 1623"/>
            </a:avLst>
          </a:prstGeom>
          <a:solidFill>
            <a:srgbClr val="112B41"/>
          </a:solidFill>
          <a:ln w="12700">
            <a:solidFill>
              <a:srgbClr val="112B41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98448" y="1810512"/>
            <a:ext cx="2971800" cy="3886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17720" y="2084832"/>
            <a:ext cx="2011680" cy="585216"/>
          </a:xfrm>
          <a:prstGeom prst="roundRect">
            <a:avLst>
              <a:gd name="adj" fmla="val 10938"/>
            </a:avLst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54880" y="227685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</a:rPr>
              <a:t>▶  PLAY 39-SECOND DEMO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4617720" y="294436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What to watch for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45152" y="3456432"/>
            <a:ext cx="82296" cy="82296"/>
          </a:xfrm>
          <a:prstGeom prst="ellipse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09744" y="3355848"/>
            <a:ext cx="1792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D9E7EE"/>
                </a:solidFill>
              </a:rPr>
              <a:t>Passive collection before active behavior</a:t>
            </a:r>
            <a:endParaRPr lang="en-US" sz="870" dirty="0"/>
          </a:p>
        </p:txBody>
      </p:sp>
      <p:sp>
        <p:nvSpPr>
          <p:cNvPr id="14" name="Shape 11"/>
          <p:cNvSpPr/>
          <p:nvPr/>
        </p:nvSpPr>
        <p:spPr>
          <a:xfrm>
            <a:off x="4645152" y="3895344"/>
            <a:ext cx="82296" cy="82296"/>
          </a:xfrm>
          <a:prstGeom prst="ellipse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09744" y="3794760"/>
            <a:ext cx="1792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D9E7EE"/>
                </a:solidFill>
              </a:rPr>
              <a:t>Analyst accepts observations before inventory changes</a:t>
            </a:r>
            <a:endParaRPr lang="en-US" sz="870" dirty="0"/>
          </a:p>
        </p:txBody>
      </p:sp>
      <p:sp>
        <p:nvSpPr>
          <p:cNvPr id="16" name="Shape 13"/>
          <p:cNvSpPr/>
          <p:nvPr/>
        </p:nvSpPr>
        <p:spPr>
          <a:xfrm>
            <a:off x="4645152" y="4334256"/>
            <a:ext cx="82296" cy="82296"/>
          </a:xfrm>
          <a:prstGeom prst="ellipse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09744" y="4233672"/>
            <a:ext cx="1792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D9E7EE"/>
                </a:solidFill>
              </a:rPr>
              <a:t>Out-of-scope target is rejected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4645152" y="4773168"/>
            <a:ext cx="82296" cy="82296"/>
          </a:xfrm>
          <a:prstGeom prst="ellipse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9744" y="4672584"/>
            <a:ext cx="1792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D9E7EE"/>
                </a:solidFill>
              </a:rPr>
              <a:t>One authorized Modbus identity request</a:t>
            </a:r>
            <a:endParaRPr lang="en-US" sz="870" dirty="0"/>
          </a:p>
        </p:txBody>
      </p:sp>
      <p:sp>
        <p:nvSpPr>
          <p:cNvPr id="20" name="Shape 17"/>
          <p:cNvSpPr/>
          <p:nvPr/>
        </p:nvSpPr>
        <p:spPr>
          <a:xfrm>
            <a:off x="4645152" y="5212080"/>
            <a:ext cx="82296" cy="82296"/>
          </a:xfrm>
          <a:prstGeom prst="ellipse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09744" y="5111496"/>
            <a:ext cx="1792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D9E7EE"/>
                </a:solidFill>
              </a:rPr>
              <a:t>Report remains blocked while required records are missing</a:t>
            </a:r>
            <a:endParaRPr lang="en-US" sz="870" dirty="0"/>
          </a:p>
        </p:txBody>
      </p:sp>
      <p:sp>
        <p:nvSpPr>
          <p:cNvPr id="22" name="Shape 19"/>
          <p:cNvSpPr/>
          <p:nvPr/>
        </p:nvSpPr>
        <p:spPr>
          <a:xfrm>
            <a:off x="7333488" y="1700784"/>
            <a:ext cx="4133088" cy="4352544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626096" y="1993392"/>
            <a:ext cx="1298448" cy="283464"/>
          </a:xfrm>
          <a:prstGeom prst="roundRect">
            <a:avLst>
              <a:gd name="adj" fmla="val 25806"/>
            </a:avLst>
          </a:prstGeom>
          <a:solidFill>
            <a:srgbClr val="E9F8FA"/>
          </a:solidFill>
          <a:ln w="12700">
            <a:solidFill>
              <a:srgbClr val="E9F8F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90104" y="2061972"/>
            <a:ext cx="11704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A8F88"/>
                </a:solidFill>
              </a:rPr>
              <a:t>WHY THIS MATTERS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626096" y="25146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A2033"/>
                </a:solidFill>
              </a:rPr>
              <a:t>The demo shows behavior that directly supports the pilot conversation:</a:t>
            </a:r>
            <a:endParaRPr lang="en-US" sz="1550" dirty="0"/>
          </a:p>
        </p:txBody>
      </p:sp>
      <p:sp>
        <p:nvSpPr>
          <p:cNvPr id="26" name="Shape 23"/>
          <p:cNvSpPr/>
          <p:nvPr/>
        </p:nvSpPr>
        <p:spPr>
          <a:xfrm>
            <a:off x="7644384" y="3438144"/>
            <a:ext cx="82296" cy="82296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08976" y="3346704"/>
            <a:ext cx="3145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3283B"/>
                </a:solidFill>
              </a:rPr>
              <a:t>The tool begins from an approved assessment context.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7644384" y="4041648"/>
            <a:ext cx="82296" cy="82296"/>
          </a:xfrm>
          <a:prstGeom prst="ellipse">
            <a:avLst/>
          </a:prstGeom>
          <a:solidFill>
            <a:srgbClr val="0A8F88"/>
          </a:solidFill>
          <a:ln w="12700">
            <a:solidFill>
              <a:srgbClr val="0A8F8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08976" y="3950208"/>
            <a:ext cx="3145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3283B"/>
                </a:solidFill>
              </a:rPr>
              <a:t>It is not “scan first, explain later.”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7644384" y="4645152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08976" y="4553712"/>
            <a:ext cx="3145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3283B"/>
                </a:solidFill>
              </a:rPr>
              <a:t>The safety boundary is visible to the operator.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7644384" y="5248656"/>
            <a:ext cx="82296" cy="82296"/>
          </a:xfrm>
          <a:prstGeom prst="ellipse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08976" y="5157216"/>
            <a:ext cx="3145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3283B"/>
                </a:solidFill>
              </a:rPr>
              <a:t>The handoff keeps limitations visible instead of hiding them.</a:t>
            </a:r>
            <a:endParaRPr lang="en-US" sz="1040" dirty="0"/>
          </a:p>
        </p:txBody>
      </p:sp>
      <p:sp>
        <p:nvSpPr>
          <p:cNvPr id="34" name="Text 31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The embedded MP4 is H.264 Constrained Baseline, constant 30 fps, yuv420p + AAC and fast-start enabled.</a:t>
            </a:r>
            <a:endParaRPr lang="en-US" sz="7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11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What is proven today - and what the field pilot must prove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The prototype has software evidence. The missing evidence is physical and operational, which is exactly why a bounded pilot is the next rational step.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603504" y="1719072"/>
            <a:ext cx="5358384" cy="4343400"/>
          </a:xfrm>
          <a:prstGeom prst="roundRect">
            <a:avLst>
              <a:gd name="adj" fmla="val 1684"/>
            </a:avLst>
          </a:prstGeom>
          <a:solidFill>
            <a:srgbClr val="EAF7F2"/>
          </a:solidFill>
          <a:ln w="12700">
            <a:solidFill>
              <a:srgbClr val="CDE8DE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1993392"/>
            <a:ext cx="1691640" cy="283464"/>
          </a:xfrm>
          <a:prstGeom prst="roundRect">
            <a:avLst>
              <a:gd name="adj" fmla="val 25806"/>
            </a:avLst>
          </a:prstGeom>
          <a:solidFill>
            <a:srgbClr val="DDF3E9"/>
          </a:solidFill>
          <a:ln w="12700">
            <a:solidFill>
              <a:srgbClr val="DDF3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061972"/>
            <a:ext cx="1563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87A62"/>
                </a:solidFill>
              </a:rPr>
              <a:t>PROVEN IN CI / EMULATION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896112" y="2688336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59689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Guided site → collect → assets → findings → report workflow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96112" y="3191256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9981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PCAP/PCAPNG hashing, parsing and review-first inventory behavior</a:t>
            </a:r>
            <a:endParaRPr lang="en-US" sz="990" dirty="0"/>
          </a:p>
        </p:txBody>
      </p:sp>
      <p:sp>
        <p:nvSpPr>
          <p:cNvPr id="14" name="Shape 12"/>
          <p:cNvSpPr/>
          <p:nvPr/>
        </p:nvSpPr>
        <p:spPr>
          <a:xfrm>
            <a:off x="896112" y="3694176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360273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Out-of-scope active request rejected before execution</a:t>
            </a:r>
            <a:endParaRPr lang="en-US" sz="990" dirty="0"/>
          </a:p>
        </p:txBody>
      </p:sp>
      <p:sp>
        <p:nvSpPr>
          <p:cNvPr id="16" name="Shape 14"/>
          <p:cNvSpPr/>
          <p:nvPr/>
        </p:nvSpPr>
        <p:spPr>
          <a:xfrm>
            <a:off x="896112" y="4197096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410565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Signed one-target Modbus identity path to independent testbeds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896112" y="4700016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460857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Receive-only software capture boundary exercised and zero-TX asserted</a:t>
            </a:r>
            <a:endParaRPr lang="en-US" sz="990" dirty="0"/>
          </a:p>
        </p:txBody>
      </p:sp>
      <p:sp>
        <p:nvSpPr>
          <p:cNvPr id="20" name="Shape 18"/>
          <p:cNvSpPr/>
          <p:nvPr/>
        </p:nvSpPr>
        <p:spPr>
          <a:xfrm>
            <a:off x="896112" y="5202936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0704" y="511149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Conservative service-only outcomes when full identity is unsupported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6236208" y="1719072"/>
            <a:ext cx="5358384" cy="4343400"/>
          </a:xfrm>
          <a:prstGeom prst="roundRect">
            <a:avLst>
              <a:gd name="adj" fmla="val 1684"/>
            </a:avLst>
          </a:prstGeom>
          <a:solidFill>
            <a:srgbClr val="FFF4DF"/>
          </a:solidFill>
          <a:ln w="12700">
            <a:solidFill>
              <a:srgbClr val="F0D8A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28816" y="1993392"/>
            <a:ext cx="1572768" cy="283464"/>
          </a:xfrm>
          <a:prstGeom prst="roundRect">
            <a:avLst>
              <a:gd name="adj" fmla="val 25806"/>
            </a:avLst>
          </a:prstGeom>
          <a:solidFill>
            <a:srgbClr val="FBE9C5"/>
          </a:solidFill>
          <a:ln w="12700">
            <a:solidFill>
              <a:srgbClr val="FBE9C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92824" y="2061972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C57B18"/>
                </a:solidFill>
              </a:rPr>
              <a:t>FIELD PILOT MUST PROVE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528816" y="2688336"/>
            <a:ext cx="82296" cy="82296"/>
          </a:xfrm>
          <a:prstGeom prst="ellipse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93408" y="259689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Physical Android / USB-Ethernet / SPAN-TAP compatibility</a:t>
            </a:r>
            <a:endParaRPr lang="en-US" sz="990" dirty="0"/>
          </a:p>
        </p:txBody>
      </p:sp>
      <p:sp>
        <p:nvSpPr>
          <p:cNvPr id="27" name="Shape 25"/>
          <p:cNvSpPr/>
          <p:nvPr/>
        </p:nvSpPr>
        <p:spPr>
          <a:xfrm>
            <a:off x="6528816" y="3191256"/>
            <a:ext cx="82296" cy="82296"/>
          </a:xfrm>
          <a:prstGeom prst="ellipse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93408" y="309981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Packet loss, timing and stability on real plant traffic</a:t>
            </a:r>
            <a:endParaRPr lang="en-US" sz="990" dirty="0"/>
          </a:p>
        </p:txBody>
      </p:sp>
      <p:sp>
        <p:nvSpPr>
          <p:cNvPr id="29" name="Shape 27"/>
          <p:cNvSpPr/>
          <p:nvPr/>
        </p:nvSpPr>
        <p:spPr>
          <a:xfrm>
            <a:off x="6528816" y="3694176"/>
            <a:ext cx="82296" cy="82296"/>
          </a:xfrm>
          <a:prstGeom prst="ellipse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93408" y="360273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Actual protocol and device mix at the selected water segment</a:t>
            </a:r>
            <a:endParaRPr lang="en-US" sz="990" dirty="0"/>
          </a:p>
        </p:txBody>
      </p:sp>
      <p:sp>
        <p:nvSpPr>
          <p:cNvPr id="31" name="Shape 29"/>
          <p:cNvSpPr/>
          <p:nvPr/>
        </p:nvSpPr>
        <p:spPr>
          <a:xfrm>
            <a:off x="6528816" y="4197096"/>
            <a:ext cx="82296" cy="82296"/>
          </a:xfrm>
          <a:prstGeom prst="ellipse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410565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Operator and assessor workflow fit under site constraints</a:t>
            </a:r>
            <a:endParaRPr lang="en-US" sz="990" dirty="0"/>
          </a:p>
        </p:txBody>
      </p:sp>
      <p:sp>
        <p:nvSpPr>
          <p:cNvPr id="33" name="Shape 31"/>
          <p:cNvSpPr/>
          <p:nvPr/>
        </p:nvSpPr>
        <p:spPr>
          <a:xfrm>
            <a:off x="6528816" y="4700016"/>
            <a:ext cx="82296" cy="82296"/>
          </a:xfrm>
          <a:prstGeom prst="ellipse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460857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Whether reconciliation identifies valuable gaps or validates the baseline</a:t>
            </a:r>
            <a:endParaRPr lang="en-US" sz="990" dirty="0"/>
          </a:p>
        </p:txBody>
      </p:sp>
      <p:sp>
        <p:nvSpPr>
          <p:cNvPr id="35" name="Shape 33"/>
          <p:cNvSpPr/>
          <p:nvPr/>
        </p:nvSpPr>
        <p:spPr>
          <a:xfrm>
            <a:off x="6528816" y="5202936"/>
            <a:ext cx="82296" cy="82296"/>
          </a:xfrm>
          <a:prstGeom prst="ellipse">
            <a:avLst/>
          </a:prstGeom>
          <a:solidFill>
            <a:srgbClr val="C57B18"/>
          </a:solidFill>
          <a:ln w="12700">
            <a:solidFill>
              <a:srgbClr val="C57B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5111496"/>
            <a:ext cx="4453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3283B"/>
                </a:solidFill>
              </a:rPr>
              <a:t>Which report/export format the customer considers useful and defensible</a:t>
            </a:r>
            <a:endParaRPr lang="en-US" sz="990" dirty="0"/>
          </a:p>
        </p:txBody>
      </p:sp>
      <p:sp>
        <p:nvSpPr>
          <p:cNvPr id="37" name="Text 35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Executable research prototype. Physical field qualification is the purpose of the proposed pilot.</a:t>
            </a:r>
            <a:endParaRPr lang="en-US" sz="7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645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100" kern="0" dirty="0">
                <a:solidFill>
                  <a:srgbClr val="7890A2"/>
                </a:solidFill>
              </a:rPr>
              <a:t>ATLAS OT SCOUT  /  WATER &amp; WASTEWATER</a:t>
            </a:r>
            <a:endParaRPr lang="en-US" sz="740" dirty="0"/>
          </a:p>
        </p:txBody>
      </p:sp>
      <p:sp>
        <p:nvSpPr>
          <p:cNvPr id="4" name="Text 2"/>
          <p:cNvSpPr/>
          <p:nvPr/>
        </p:nvSpPr>
        <p:spPr>
          <a:xfrm>
            <a:off x="1115568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DA1B1"/>
                </a:solidFill>
              </a:rPr>
              <a:t>12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2033"/>
                </a:solidFill>
              </a:rPr>
              <a:t>Proposed free pilot: one bounded water segment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667B8D"/>
                </a:solidFill>
              </a:rPr>
              <a:t>No-fee field evaluation of the workflow and evidence value. No broad scan. No control writes. No obligation to continue.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>
            <a:off x="566928" y="1773936"/>
            <a:ext cx="3401568" cy="2176272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011680"/>
            <a:ext cx="786384" cy="283464"/>
          </a:xfrm>
          <a:prstGeom prst="roundRect">
            <a:avLst>
              <a:gd name="adj" fmla="val 25806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080260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E78D1"/>
                </a:solidFill>
              </a:rPr>
              <a:t>BEFORE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77240" y="2505456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Scope &amp; authorize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667B8D"/>
                </a:solidFill>
              </a:rPr>
              <a:t>Choose one treatment or pumping segment, agree the evidence window, stop conditions and approved methods.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4389120" y="1773936"/>
            <a:ext cx="3401568" cy="2176272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99432" y="2011680"/>
            <a:ext cx="786384" cy="283464"/>
          </a:xfrm>
          <a:prstGeom prst="roundRect">
            <a:avLst>
              <a:gd name="adj" fmla="val 25806"/>
            </a:avLst>
          </a:prstGeom>
          <a:solidFill>
            <a:srgbClr val="E9F8FA"/>
          </a:solidFill>
          <a:ln w="12700">
            <a:solidFill>
              <a:srgbClr val="E9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080260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A8F88"/>
                </a:solidFill>
              </a:rPr>
              <a:t>ON SITE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599432" y="2505456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Collect safely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99432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667B8D"/>
                </a:solidFill>
              </a:rPr>
              <a:t>Use passive evidence first. Run exact one-target identity checks only where the customer explicitly approves them.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8211312" y="1773936"/>
            <a:ext cx="3401568" cy="2176272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21624" y="2011680"/>
            <a:ext cx="786384" cy="283464"/>
          </a:xfrm>
          <a:prstGeom prst="roundRect">
            <a:avLst>
              <a:gd name="adj" fmla="val 25806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5632" y="2080260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87A62"/>
                </a:solidFill>
              </a:rPr>
              <a:t>AFTER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421624" y="2505456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Review together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21624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667B8D"/>
                </a:solidFill>
              </a:rPr>
              <a:t>Reconcile the customer inventory, review evidence-linked gaps/findings and agree what would be needed for a production deployment.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566928" y="4261104"/>
            <a:ext cx="5321808" cy="1408176"/>
          </a:xfrm>
          <a:prstGeom prst="roundRect">
            <a:avLst>
              <a:gd name="adj" fmla="val 5195"/>
            </a:avLst>
          </a:prstGeom>
          <a:solidFill>
            <a:srgbClr val="112B41"/>
          </a:solidFill>
          <a:ln w="12700">
            <a:solidFill>
              <a:srgbClr val="112B41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41248" y="45171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What we need from you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59536" y="5010912"/>
            <a:ext cx="82296" cy="82296"/>
          </a:xfrm>
          <a:prstGeom prst="ellipse">
            <a:avLst/>
          </a:prstGeom>
          <a:solidFill>
            <a:srgbClr val="79D6E0"/>
          </a:solidFill>
          <a:ln w="12700">
            <a:solidFill>
              <a:srgbClr val="79D6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4919472"/>
            <a:ext cx="43616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E5F0F5"/>
                </a:solidFill>
              </a:rPr>
              <a:t>One approved control segment + technical contact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59536" y="5449824"/>
            <a:ext cx="82296" cy="82296"/>
          </a:xfrm>
          <a:prstGeom prst="ellipse">
            <a:avLst/>
          </a:prstGeom>
          <a:solidFill>
            <a:srgbClr val="79D6E0"/>
          </a:solidFill>
          <a:ln w="12700">
            <a:solidFill>
              <a:srgbClr val="79D6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" y="5358384"/>
            <a:ext cx="43616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E5F0F5"/>
                </a:solidFill>
              </a:rPr>
              <a:t>SPAN/TAP access or an approved capture set + current inventory extract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6126480" y="4261104"/>
            <a:ext cx="5468112" cy="1408176"/>
          </a:xfrm>
          <a:prstGeom prst="roundRect">
            <a:avLst>
              <a:gd name="adj" fmla="val 5195"/>
            </a:avLst>
          </a:prstGeom>
          <a:solidFill>
            <a:srgbClr val="EAF7F2"/>
          </a:solidFill>
          <a:ln w="12700">
            <a:solidFill>
              <a:srgbClr val="CDE8DD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45171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033"/>
                </a:solidFill>
              </a:rPr>
              <a:t>What you get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419088" y="5010912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919472"/>
            <a:ext cx="44256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3283B"/>
                </a:solidFill>
              </a:rPr>
              <a:t>Pilot evidence pack + reconciled inventory + prioritized gaps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6419088" y="5449824"/>
            <a:ext cx="82296" cy="82296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5358384"/>
            <a:ext cx="44256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3283B"/>
                </a:solidFill>
              </a:rPr>
              <a:t>Joint debrief: what is proven, what remains uncertain and whether a rollout is worth pursuing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548640" y="6455664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8A9EAD"/>
                </a:solidFill>
              </a:rPr>
              <a:t>Reference pilot boundary: one site/process area/control segment, with up to four hours of field collection.</a:t>
            </a:r>
            <a:endParaRPr lang="en-US" sz="7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658368"/>
            <a:ext cx="987552" cy="283464"/>
          </a:xfrm>
          <a:prstGeom prst="roundRect">
            <a:avLst>
              <a:gd name="adj" fmla="val 25806"/>
            </a:avLst>
          </a:prstGeom>
          <a:solidFill>
            <a:srgbClr val="143F55"/>
          </a:solidFill>
          <a:ln w="12700">
            <a:solidFill>
              <a:srgbClr val="143F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0664" y="726948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3B7C8"/>
                </a:solidFill>
              </a:rPr>
              <a:t>THE DECISION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676656" y="1188720"/>
            <a:ext cx="65379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</a:rPr>
              <a:t>Do one bounded pilot.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</a:rPr>
              <a:t>Then decide from the evidence.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94944" y="27706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9E3"/>
                </a:solidFill>
              </a:rPr>
              <a:t>A successful pilot should answer five questions: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3310128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11354B"/>
          </a:solidFill>
          <a:ln w="12700">
            <a:solidFill>
              <a:srgbClr val="2854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438144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50" kern="0" dirty="0">
                <a:solidFill>
                  <a:srgbClr val="13B7C8"/>
                </a:solidFill>
              </a:rPr>
              <a:t>SAFE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841248" y="365760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FFFFFF"/>
                </a:solidFill>
              </a:rPr>
              <a:t>Did the assessment stay inside the approved methods and scope?</a:t>
            </a:r>
            <a:endParaRPr lang="en-US" sz="790" dirty="0"/>
          </a:p>
        </p:txBody>
      </p:sp>
      <p:sp>
        <p:nvSpPr>
          <p:cNvPr id="10" name="Shape 8"/>
          <p:cNvSpPr/>
          <p:nvPr/>
        </p:nvSpPr>
        <p:spPr>
          <a:xfrm>
            <a:off x="2779776" y="3310128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11354B"/>
          </a:solidFill>
          <a:ln w="12700">
            <a:solidFill>
              <a:srgbClr val="2854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0" y="3438144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50" kern="0" dirty="0">
                <a:solidFill>
                  <a:srgbClr val="13B7C8"/>
                </a:solidFill>
              </a:rPr>
              <a:t>VISIBLE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2926080" y="365760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FFFFFF"/>
                </a:solidFill>
              </a:rPr>
              <a:t>Did the evidence give a useful communication picture of the segment?</a:t>
            </a:r>
            <a:endParaRPr lang="en-US" sz="790" dirty="0"/>
          </a:p>
        </p:txBody>
      </p:sp>
      <p:sp>
        <p:nvSpPr>
          <p:cNvPr id="13" name="Shape 11"/>
          <p:cNvSpPr/>
          <p:nvPr/>
        </p:nvSpPr>
        <p:spPr>
          <a:xfrm>
            <a:off x="4864608" y="3310128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11354B"/>
          </a:solidFill>
          <a:ln w="12700">
            <a:solidFill>
              <a:srgbClr val="2854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438144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50" kern="0" dirty="0">
                <a:solidFill>
                  <a:srgbClr val="13B7C8"/>
                </a:solidFill>
              </a:rPr>
              <a:t>VALUABLE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5010912" y="365760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FFFFFF"/>
                </a:solidFill>
              </a:rPr>
              <a:t>Did reconciliation expose a real gap, conflict or useful baseline confirmation?</a:t>
            </a:r>
            <a:endParaRPr lang="en-US" sz="790" dirty="0"/>
          </a:p>
        </p:txBody>
      </p:sp>
      <p:sp>
        <p:nvSpPr>
          <p:cNvPr id="16" name="Shape 14"/>
          <p:cNvSpPr/>
          <p:nvPr/>
        </p:nvSpPr>
        <p:spPr>
          <a:xfrm>
            <a:off x="694944" y="4334256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11354B"/>
          </a:solidFill>
          <a:ln w="12700">
            <a:solidFill>
              <a:srgbClr val="2854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462272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50" kern="0" dirty="0">
                <a:solidFill>
                  <a:srgbClr val="13B7C8"/>
                </a:solidFill>
              </a:rPr>
              <a:t>DEFENSIBLE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841248" y="46817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FFFFFF"/>
                </a:solidFill>
              </a:rPr>
              <a:t>Can each important claim be traced back to evidence and analyst review?</a:t>
            </a:r>
            <a:endParaRPr lang="en-US" sz="790" dirty="0"/>
          </a:p>
        </p:txBody>
      </p:sp>
      <p:sp>
        <p:nvSpPr>
          <p:cNvPr id="19" name="Shape 17"/>
          <p:cNvSpPr/>
          <p:nvPr/>
        </p:nvSpPr>
        <p:spPr>
          <a:xfrm>
            <a:off x="2779776" y="4334256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174B5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4462272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50" kern="0" dirty="0">
                <a:solidFill>
                  <a:srgbClr val="13B7C8"/>
                </a:solidFill>
              </a:rPr>
              <a:t>USABLE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2926080" y="46817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FFFFFF"/>
                </a:solidFill>
              </a:rPr>
              <a:t>Would operations/security teams use this workflow again?</a:t>
            </a:r>
            <a:endParaRPr lang="en-US" sz="790" dirty="0"/>
          </a:p>
        </p:txBody>
      </p:sp>
      <p:sp>
        <p:nvSpPr>
          <p:cNvPr id="22" name="Shape 20"/>
          <p:cNvSpPr/>
          <p:nvPr/>
        </p:nvSpPr>
        <p:spPr>
          <a:xfrm>
            <a:off x="7516368" y="1097280"/>
            <a:ext cx="3931920" cy="4526280"/>
          </a:xfrm>
          <a:prstGeom prst="roundRect">
            <a:avLst>
              <a:gd name="adj" fmla="val 1860"/>
            </a:avLst>
          </a:prstGeom>
          <a:solidFill>
            <a:srgbClr val="102D43"/>
          </a:solidFill>
          <a:ln w="12700">
            <a:solidFill>
              <a:srgbClr val="28536A"/>
            </a:solidFill>
            <a:prstDash val="solid"/>
          </a:ln>
          <a:effectLst>
            <a:outerShdw sx="100000" sy="100000" kx="0" ky="0" algn="bl" rotWithShape="0" blurRad="12700" dist="50800" dir="2700000">
              <a:srgbClr val="6F8596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827264" y="14447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B7C8"/>
                </a:solidFill>
              </a:rPr>
              <a:t>Next step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27264" y="1993392"/>
            <a:ext cx="329184" cy="329184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27264" y="2084832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</a:rPr>
              <a:t>1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8366760" y="20391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Select one segment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27264" y="2606040"/>
            <a:ext cx="329184" cy="329184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27264" y="2697480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</a:rPr>
              <a:t>2</a:t>
            </a:r>
            <a:endParaRPr lang="en-US" sz="840" dirty="0"/>
          </a:p>
        </p:txBody>
      </p:sp>
      <p:sp>
        <p:nvSpPr>
          <p:cNvPr id="29" name="Text 27"/>
          <p:cNvSpPr/>
          <p:nvPr/>
        </p:nvSpPr>
        <p:spPr>
          <a:xfrm>
            <a:off x="8366760" y="26517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Nominate the technical contact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827264" y="3218688"/>
            <a:ext cx="329184" cy="329184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27264" y="3310128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</a:rPr>
              <a:t>3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8366760" y="326440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Agree the evidence window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27264" y="3831336"/>
            <a:ext cx="329184" cy="329184"/>
          </a:xfrm>
          <a:prstGeom prst="ellipse">
            <a:avLst/>
          </a:prstGeom>
          <a:solidFill>
            <a:srgbClr val="1E78D1"/>
          </a:solidFill>
          <a:ln w="12700">
            <a:solidFill>
              <a:srgbClr val="1E78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27264" y="3922776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</a:rPr>
              <a:t>4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8366760" y="387705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Run the free pilot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827264" y="4443984"/>
            <a:ext cx="329184" cy="329184"/>
          </a:xfrm>
          <a:prstGeom prst="ellipse">
            <a:avLst/>
          </a:prstGeom>
          <a:solidFill>
            <a:srgbClr val="187A62"/>
          </a:solidFill>
          <a:ln w="12700">
            <a:solidFill>
              <a:srgbClr val="187A6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27264" y="4535424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</a:rPr>
              <a:t>5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8366760" y="448970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Decide whether to continue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827264" y="510235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3B7C8"/>
          </a:solidFill>
          <a:ln w="12700">
            <a:solidFill>
              <a:srgbClr val="13B7C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019288" y="5230368"/>
            <a:ext cx="2779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80" kern="0" dirty="0">
                <a:solidFill>
                  <a:srgbClr val="0A2033"/>
                </a:solidFill>
              </a:rPr>
              <a:t>PILOT FIRST. BUY LATER.</a:t>
            </a:r>
            <a:endParaRPr lang="en-US" sz="1040" dirty="0"/>
          </a:p>
        </p:txBody>
      </p:sp>
      <p:sp>
        <p:nvSpPr>
          <p:cNvPr id="41" name="Text 39"/>
          <p:cNvSpPr/>
          <p:nvPr/>
        </p:nvSpPr>
        <p:spPr>
          <a:xfrm>
            <a:off x="694944" y="62910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90" kern="0" dirty="0">
                <a:solidFill>
                  <a:srgbClr val="6F93A6"/>
                </a:solidFill>
              </a:rPr>
              <a:t>ATLAS OT SCOUT  /  WATER &amp; WASTEWATER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Atlas OT Scout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OT Scout - Free Water OT Pilot</dc:title>
  <dc:subject>Prospect deck for a no-fee P0-WATER field pilot</dc:subject>
  <dc:creator>Charif Mahmoudi</dc:creator>
  <cp:lastModifiedBy>Charif Mahmoudi</cp:lastModifiedBy>
  <cp:revision>1</cp:revision>
  <dcterms:created xsi:type="dcterms:W3CDTF">2026-08-31T20:29:33Z</dcterms:created>
  <dcterms:modified xsi:type="dcterms:W3CDTF">2026-08-31T20:29:33Z</dcterms:modified>
</cp:coreProperties>
</file>