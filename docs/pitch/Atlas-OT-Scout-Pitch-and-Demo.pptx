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85f45447d4827" /><Relationship Type="http://schemas.openxmlformats.org/officeDocument/2006/relationships/extended-properties" Target="/docProps/app.xml" Id="R6a203340db2149d0" /><Relationship Type="http://schemas.openxmlformats.org/officeDocument/2006/relationships/officeDocument" Target="/ppt/presentation.xml" Id="R392658d17cc7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6e8343b39446c"/>
  </p:sldMasterIdLst>
  <p:notesMasterIdLst>
    <p:notesMasterId xmlns:r="http://schemas.openxmlformats.org/officeDocument/2006/relationships" r:id="Refc9c5782dd041ee"/>
  </p:notesMasterIdLst>
  <p:sldIdLst>
    <p:sldId xmlns:r="http://schemas.openxmlformats.org/officeDocument/2006/relationships" id="256" r:id="R57c8eec3a92b4489"/>
    <p:sldId xmlns:r="http://schemas.openxmlformats.org/officeDocument/2006/relationships" id="257" r:id="R75f55b8cf6a94070"/>
    <p:sldId xmlns:r="http://schemas.openxmlformats.org/officeDocument/2006/relationships" id="258" r:id="Rbf94ae669a0d4704"/>
    <p:sldId xmlns:r="http://schemas.openxmlformats.org/officeDocument/2006/relationships" id="259" r:id="R2ac9c50f3e774279"/>
    <p:sldId xmlns:r="http://schemas.openxmlformats.org/officeDocument/2006/relationships" id="260" r:id="R18898b32a68d4313"/>
    <p:sldId xmlns:r="http://schemas.openxmlformats.org/officeDocument/2006/relationships" id="261" r:id="R87b45f7a15a04a9a"/>
    <p:sldId xmlns:r="http://schemas.openxmlformats.org/officeDocument/2006/relationships" id="262" r:id="Rb3aa9b7348ad43b1"/>
    <p:sldId xmlns:r="http://schemas.openxmlformats.org/officeDocument/2006/relationships" id="263" r:id="Re31dacc0648841b6"/>
    <p:sldId xmlns:r="http://schemas.openxmlformats.org/officeDocument/2006/relationships" id="264" r:id="R52ddd6b3e9f2452a"/>
    <p:sldId xmlns:r="http://schemas.openxmlformats.org/officeDocument/2006/relationships" id="265" r:id="Rc8ab5ffc66dd48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7275db484448d" /><Relationship Type="http://schemas.openxmlformats.org/officeDocument/2006/relationships/slideMaster" Target="/ppt/slideMasters/slideMaster1.xml" Id="Re716e8343b39446c" /><Relationship Type="http://schemas.openxmlformats.org/officeDocument/2006/relationships/notesMaster" Target="/ppt/notesMasters/notesMaster1.xml" Id="Refc9c5782dd041ee" /><Relationship Type="http://schemas.openxmlformats.org/officeDocument/2006/relationships/presProps" Target="/ppt/presProps.xml" Id="Rbc27be1923af4798" /><Relationship Type="http://schemas.openxmlformats.org/officeDocument/2006/relationships/tableStyles" Target="/ppt/tableStyles.xml" Id="Rb5149908689245ce" /><Relationship Type="http://schemas.openxmlformats.org/officeDocument/2006/relationships/slide" Target="/ppt/slides/slide1.xml" Id="R57c8eec3a92b4489" /><Relationship Type="http://schemas.openxmlformats.org/officeDocument/2006/relationships/slide" Target="/ppt/slides/slide2.xml" Id="R75f55b8cf6a94070" /><Relationship Type="http://schemas.openxmlformats.org/officeDocument/2006/relationships/slide" Target="/ppt/slides/slide3.xml" Id="Rbf94ae669a0d4704" /><Relationship Type="http://schemas.openxmlformats.org/officeDocument/2006/relationships/slide" Target="/ppt/slides/slide4.xml" Id="R2ac9c50f3e774279" /><Relationship Type="http://schemas.openxmlformats.org/officeDocument/2006/relationships/slide" Target="/ppt/slides/slide5.xml" Id="R18898b32a68d4313" /><Relationship Type="http://schemas.openxmlformats.org/officeDocument/2006/relationships/slide" Target="/ppt/slides/slide6.xml" Id="R87b45f7a15a04a9a" /><Relationship Type="http://schemas.openxmlformats.org/officeDocument/2006/relationships/slide" Target="/ppt/slides/slide7.xml" Id="Rb3aa9b7348ad43b1" /><Relationship Type="http://schemas.openxmlformats.org/officeDocument/2006/relationships/slide" Target="/ppt/slides/slide8.xml" Id="Re31dacc0648841b6" /><Relationship Type="http://schemas.openxmlformats.org/officeDocument/2006/relationships/slide" Target="/ppt/slides/slide9.xml" Id="R52ddd6b3e9f2452a" /><Relationship Type="http://schemas.openxmlformats.org/officeDocument/2006/relationships/slide" Target="/ppt/slides/slide10.xml" Id="Rc8ab5ffc66dd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cb49232424b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09090dc094345" /><Relationship Type="http://schemas.openxmlformats.org/officeDocument/2006/relationships/notesMaster" Target="/ppt/notesMasters/notesMaster1.xml" Id="R27bc4171cf3e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48a75cb097489d" /><Relationship Type="http://schemas.openxmlformats.org/officeDocument/2006/relationships/notesMaster" Target="/ppt/notesMasters/notesMaster1.xml" Id="R698e8c3a58dd43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a3361554f848f2" /><Relationship Type="http://schemas.openxmlformats.org/officeDocument/2006/relationships/notesMaster" Target="/ppt/notesMasters/notesMaster1.xml" Id="R9daed6c35b58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c0d87524df4c9e" /><Relationship Type="http://schemas.openxmlformats.org/officeDocument/2006/relationships/notesMaster" Target="/ppt/notesMasters/notesMaster1.xml" Id="R75c93748a8b9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0dea728b04d6b" /><Relationship Type="http://schemas.openxmlformats.org/officeDocument/2006/relationships/notesMaster" Target="/ppt/notesMasters/notesMaster1.xml" Id="Re8192ddb9ad045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6a35bfcbb9441b" /><Relationship Type="http://schemas.openxmlformats.org/officeDocument/2006/relationships/notesMaster" Target="/ppt/notesMasters/notesMaster1.xml" Id="R8f157232d77d4e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103cada56048a0" /><Relationship Type="http://schemas.openxmlformats.org/officeDocument/2006/relationships/notesMaster" Target="/ppt/notesMasters/notesMaster1.xml" Id="Rd3a7f7b7606943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779a3c122a4bf8" /><Relationship Type="http://schemas.openxmlformats.org/officeDocument/2006/relationships/notesMaster" Target="/ppt/notesMasters/notesMaster1.xml" Id="R11b177f5965049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44a7a5909e4e94" /><Relationship Type="http://schemas.openxmlformats.org/officeDocument/2006/relationships/notesMaster" Target="/ppt/notesMasters/notesMaster1.xml" Id="Re03c5a9b430e48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b5fa8282bc49cd" /><Relationship Type="http://schemas.openxmlformats.org/officeDocument/2006/relationships/notesMaster" Target="/ppt/notesMasters/notesMaster1.xml" Id="R6195c80e8883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outcome: trustworthy inventory change, not device counting.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docs/user-guide/screenshots/01-site-selection-api35.png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professional decision support: evidence, uncertainty, and controlled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The value in one field visit</a:t>
            </a:r>
          </a:p>
          <a:p xmlns:a="http://schemas.openxmlformats.org/drawingml/2006/main">
            <a:r>
              <a:t>- docs/user-guide/screenshots/07-asset-inventory-api35.png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stages as decision gates, not navigation tabs.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 field assessor's journey</a:t>
            </a:r>
          </a:p>
          <a:p xmlns:a="http://schemas.openxmlformats.org/drawingml/2006/main">
            <a:r>
              <a:t>- docs/user-guide/screenshots/03-site-dashboard-api35.png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each method states its network effect and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Passive and active modes</a:t>
            </a:r>
          </a:p>
          <a:p xmlns:a="http://schemas.openxmlformats.org/drawingml/2006/main">
            <a:r>
              <a:t>- docs/user-guide/screenshots/04-collection-methods-api35.png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protocol presence as a vulnerability finding.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Passive by default</a:t>
            </a:r>
          </a:p>
          <a:p xmlns:a="http://schemas.openxmlformats.org/drawingml/2006/main">
            <a:r>
              <a:t>- docs/user-guide/screenshots/06-live-span-result-api35.png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local stop as product value: the workflow refuses to widen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Active only for a documented identity gap</a:t>
            </a:r>
          </a:p>
          <a:p xmlns:a="http://schemas.openxmlformats.org/drawingml/2006/main">
            <a:r>
              <a:t>- docs/user-guide/screenshots/05-active-authorization-api35.png</a:t>
            </a:r>
          </a:p>
          <a:p xmlns:a="http://schemas.openxmlformats.org/drawingml/2006/main">
            <a:r>
              <a:t>- docs/user-guide/screenshots/06-out-of-scope-blocked-api35.png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conversation on uncertainty and coverage, not the raw count of four sample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The value in one field visit</a:t>
            </a:r>
          </a:p>
          <a:p xmlns:a="http://schemas.openxmlformats.org/drawingml/2006/main">
            <a:r>
              <a:t>- docs/user-guide/screenshots/07-asset-inventory-api35.png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Explicitly say that deterministic final PDF case export is not implemented in the PoC.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What does not work yet</a:t>
            </a:r>
          </a:p>
          <a:p xmlns:a="http://schemas.openxmlformats.org/drawingml/2006/main">
            <a:r>
              <a:t>- docs/user-guide/screenshots/10-guided-report-readiness-api35.png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boundary before a buyer has to ask. Emulation is not physical compatibility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End-to-end proof</a:t>
            </a:r>
          </a:p>
          <a:p xmlns:a="http://schemas.openxmlformats.org/drawingml/2006/main">
            <a:r>
              <a:t>- docs/testing/E2E-ACCEPTANCE.md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bounded evaluation, not a broad deployment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docs/poc/WATER-WASTEWATER-POC.md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5e4fdd3c44d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10ee0b04443e6" /><Relationship Type="http://schemas.openxmlformats.org/officeDocument/2006/relationships/slideLayout" Target="/ppt/slideLayouts/slideLayout1.xml" Id="R49560f487fb44f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60f487fb44f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17530779b4a01" /><Relationship Type="http://schemas.openxmlformats.org/officeDocument/2006/relationships/image" Target="/ppt/media/image.png" Id="R00966493a07841e2" /><Relationship Type="http://schemas.openxmlformats.org/officeDocument/2006/relationships/notesSlide" Target="/ppt/notesSlides/notesSlide1.xml" Id="R00e7af2113b14c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cf059fe524b44" /><Relationship Type="http://schemas.openxmlformats.org/officeDocument/2006/relationships/image" Target="/ppt/media/image2.png" Id="Rb0dec58b3f71405f" /><Relationship Type="http://schemas.openxmlformats.org/officeDocument/2006/relationships/notesSlide" Target="/ppt/notesSlides/notesSlide2.xml" Id="R8032f00c071840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05fc62a00411c" /><Relationship Type="http://schemas.openxmlformats.org/officeDocument/2006/relationships/image" Target="/ppt/media/image3.png" Id="Ra19c7a9949d942a9" /><Relationship Type="http://schemas.openxmlformats.org/officeDocument/2006/relationships/notesSlide" Target="/ppt/notesSlides/notesSlide3.xml" Id="R1eda445f807f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daaefcdb342d4" /><Relationship Type="http://schemas.openxmlformats.org/officeDocument/2006/relationships/image" Target="/ppt/media/image4.png" Id="R1bf182f3cd664b25" /><Relationship Type="http://schemas.openxmlformats.org/officeDocument/2006/relationships/notesSlide" Target="/ppt/notesSlides/notesSlide4.xml" Id="R1f8e1518371d4b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ec6ff2a464696" /><Relationship Type="http://schemas.openxmlformats.org/officeDocument/2006/relationships/image" Target="/ppt/media/image5.png" Id="Rfa1605a7db2f405e" /><Relationship Type="http://schemas.openxmlformats.org/officeDocument/2006/relationships/notesSlide" Target="/ppt/notesSlides/notesSlide5.xml" Id="Rccf33501b094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f71601f9b4c00" /><Relationship Type="http://schemas.openxmlformats.org/officeDocument/2006/relationships/image" Target="/ppt/media/image6.png" Id="Rb3e822913a114493" /><Relationship Type="http://schemas.openxmlformats.org/officeDocument/2006/relationships/image" Target="/ppt/media/image7.png" Id="R595758cc72fe44f9" /><Relationship Type="http://schemas.openxmlformats.org/officeDocument/2006/relationships/notesSlide" Target="/ppt/notesSlides/notesSlide6.xml" Id="Re65b37028f42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400dc1d8642bb" /><Relationship Type="http://schemas.openxmlformats.org/officeDocument/2006/relationships/image" Target="/ppt/media/image8.png" Id="Rf0ad8b44a91a46a5" /><Relationship Type="http://schemas.openxmlformats.org/officeDocument/2006/relationships/notesSlide" Target="/ppt/notesSlides/notesSlide7.xml" Id="R86e98d83230c44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71822f95841a2" /><Relationship Type="http://schemas.openxmlformats.org/officeDocument/2006/relationships/image" Target="/ppt/media/image9.png" Id="Rc3db09d11bf94bc0" /><Relationship Type="http://schemas.openxmlformats.org/officeDocument/2006/relationships/notesSlide" Target="/ppt/notesSlides/notesSlide8.xml" Id="R21c6ca2c48054d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538dbb9b044e4" /><Relationship Type="http://schemas.openxmlformats.org/officeDocument/2006/relationships/notesSlide" Target="/ppt/notesSlides/notesSlide9.xml" Id="Rc50c80a29d2b4d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3ed5d3624a02" /><Relationship Type="http://schemas.openxmlformats.org/officeDocument/2006/relationships/notesSlide" Target="/ppt/notesSlides/notesSlide10.xml" Id="R50cc6e470c9c40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1F5E8B82-EFBE-44C9-A392-48E35CE2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84E1B99-E5C5-40C5-AFB4-83DB2AEE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B9FF"/>
                </a:solidFill>
              </a:defRPr>
            </a:pPr>
            <a:r>
              <a:rPr sz="1350" b="1">
                <a:solidFill>
                  <a:srgbClr val="9BB9FF"/>
                </a:solidFill>
              </a:rPr>
              <a:t>ATLAS OT SCOUT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A4C2D3-4CBB-4156-A36F-615A787B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429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From bounded evidence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 a reviewable OT inventory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8D6136B-7B04-496E-A6E1-7F2500DC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ED9E7"/>
                </a:solidFill>
              </a:defRPr>
            </a:pPr>
            <a:r>
              <a:rPr sz="1875" b="0">
                <a:solidFill>
                  <a:srgbClr val="CED9E7"/>
                </a:solidFill>
              </a:rPr>
              <a:t>A dedicated Android field instrument for safe, evidence-led assessment of one industrial site.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59A60C2B-484D-42D2-8CE8-AF0BA94F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B9FF"/>
                </a:solidFill>
              </a:defRPr>
            </a:pPr>
            <a:r>
              <a:rPr sz="1125" b="1">
                <a:solidFill>
                  <a:srgbClr val="9BB9FF"/>
                </a:solidFill>
              </a:rPr>
              <a:t>P0-WATER  •  PASSIVE FIRST  •  OFFLINE CASE APP</a:t>
            </a:r>
          </a:p>
        </p:txBody>
      </p:sp>
      <p:sp>
        <p:nvSpPr>
          <p:cNvPr id="6" name="frame-01-site-selection-api35.png">
            <a:extLst xmlns:a="http://schemas.openxmlformats.org/drawingml/2006/main">
              <a:ext uri="{FF2B5EF4-FFF2-40B4-BE49-F238E27FC236}">
                <a16:creationId xmlns:a16="http://schemas.microsoft.com/office/drawing/2014/main" id="{3F394CA7-135C-407D-864B-2D4824C1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6250"/>
            <a:ext cx="2914650" cy="591502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66493a07841e2"/>
          <a:stretch xmlns:a="http://schemas.openxmlformats.org/drawingml/2006/main"/>
        </p:blipFill>
        <p:spPr>
          <a:xfrm xmlns:a="http://schemas.openxmlformats.org/drawingml/2006/main">
            <a:off x="8514159" y="552450"/>
            <a:ext cx="2593181" cy="576262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1300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">
            <a:extLst xmlns:a="http://schemas.openxmlformats.org/drawingml/2006/main">
              <a:ext uri="{FF2B5EF4-FFF2-40B4-BE49-F238E27FC236}">
                <a16:creationId xmlns:a16="http://schemas.microsoft.com/office/drawing/2014/main" id="{EDACC2A5-B4BF-45B2-B7FD-77B9203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056C2B4-9B3B-4F93-9B2B-4BC558A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THE FIELD PROBLEM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693551-28B6-436B-9785-F360DB04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A device count is not a defensible handoff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A96C88C-E873-4FF0-9AF2-97D285A3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Industrial teams need to know what changed, what remains uncertain, and how every claim was established.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3DD6F64-E77C-43D3-BAC4-91484A4B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D1B63BAA-D8E3-47CE-851E-ED85AFA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524625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71D31"/>
          </a:solidFill>
          <a:ln xmlns:a="http://schemas.openxmlformats.org/drawingml/2006/main" w="9525">
            <a:solidFill>
              <a:srgbClr val="071D31"/>
            </a:solidFill>
            <a:prstDash val="solid"/>
          </a:ln>
        </p:spPr>
      </p:sp>
      <p:sp>
        <p:nvSpPr>
          <p:cNvPr id="7" name="statement-title">
            <a:extLst xmlns:a="http://schemas.openxmlformats.org/drawingml/2006/main">
              <a:ext uri="{FF2B5EF4-FFF2-40B4-BE49-F238E27FC236}">
                <a16:creationId xmlns:a16="http://schemas.microsoft.com/office/drawing/2014/main" id="{0BA89A11-C7FE-48DE-82F1-58455F73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B9FF"/>
                </a:solidFill>
              </a:defRPr>
            </a:pPr>
            <a:r>
              <a:rPr sz="2100" b="1">
                <a:solidFill>
                  <a:srgbClr val="9BB9FF"/>
                </a:solidFill>
              </a:rPr>
              <a:t>The decision burden</a:t>
            </a:r>
          </a:p>
        </p:txBody>
      </p:sp>
      <p:sp>
        <p:nvSpPr>
          <p:cNvPr id="8" name="bullet-358">
            <a:extLst xmlns:a="http://schemas.openxmlformats.org/drawingml/2006/main">
              <a:ext uri="{FF2B5EF4-FFF2-40B4-BE49-F238E27FC236}">
                <a16:creationId xmlns:a16="http://schemas.microsoft.com/office/drawing/2014/main" id="{63DBA8E3-8E85-4348-8FB0-2705DC6C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Reconcile observed identities with the customer record</a:t>
            </a:r>
          </a:p>
        </p:txBody>
      </p:sp>
      <p:sp>
        <p:nvSpPr>
          <p:cNvPr id="9" name="bullet-420">
            <a:extLst xmlns:a="http://schemas.openxmlformats.org/drawingml/2006/main">
              <a:ext uri="{FF2B5EF4-FFF2-40B4-BE49-F238E27FC236}">
                <a16:creationId xmlns:a16="http://schemas.microsoft.com/office/drawing/2014/main" id="{26A42015-5C24-4628-AF25-9ACC6363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Keep evidence provenance attached to every asset</a:t>
            </a:r>
          </a:p>
        </p:txBody>
      </p:sp>
      <p:sp>
        <p:nvSpPr>
          <p:cNvPr id="10" name="bullet-482">
            <a:extLst xmlns:a="http://schemas.openxmlformats.org/drawingml/2006/main">
              <a:ext uri="{FF2B5EF4-FFF2-40B4-BE49-F238E27FC236}">
                <a16:creationId xmlns:a16="http://schemas.microsoft.com/office/drawing/2014/main" id="{6387B156-8018-4010-9BBC-DD5621CA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Expose unresolved review and approval gaps</a:t>
            </a:r>
          </a:p>
        </p:txBody>
      </p:sp>
      <p:sp>
        <p:nvSpPr>
          <p:cNvPr id="11" name="frame-07-asset-inventory-api35.png">
            <a:extLst xmlns:a="http://schemas.openxmlformats.org/drawingml/2006/main">
              <a:ext uri="{FF2B5EF4-FFF2-40B4-BE49-F238E27FC236}">
                <a16:creationId xmlns:a16="http://schemas.microsoft.com/office/drawing/2014/main" id="{4F21D9D4-E0CB-4E92-8ABF-E416F2B8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71700"/>
            <a:ext cx="2800350" cy="4152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ec58b3f71405f"/>
          <a:stretch xmlns:a="http://schemas.openxmlformats.org/drawingml/2006/main"/>
        </p:blipFill>
        <p:spPr>
          <a:xfrm xmlns:a="http://schemas.openxmlformats.org/drawingml/2006/main">
            <a:off x="8662988" y="2247900"/>
            <a:ext cx="1800225" cy="400050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</p:spTree>
    <p:extLst>
      <p:ext uri="{BB962C8B-B14F-4D97-AF65-F5344CB8AC3E}">
        <p14:creationId xmlns:p14="http://schemas.microsoft.com/office/powerpoint/2010/main" val="1189537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766B43EF-1E56-4703-B00B-202B1CC0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46490ED-D8E1-4EEA-B9FA-057F0DFC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ONE BOUNDED WORKFLOW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8D1F0D-4A1B-416B-B4EA-DA00087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799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The assessment advances through five explicit decisions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E10DFBF-A85E-4F4F-82D3-B1137439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Each stage produces a reviewable output and keeps the operator inside the authorized scope.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59BE623-1E47-45FD-8FBD-E680EF80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2E5BCE14-24F6-438C-9BCD-2BF7395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8AFFFD10-C32E-4ADD-9842-9AB6E80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5C72FCC4-A530-4165-8E3D-62E9809E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71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4"/>
                </a:solidFill>
              </a:defRPr>
            </a:pPr>
            <a:r>
              <a:rPr sz="1650" b="1">
                <a:solidFill>
                  <a:srgbClr val="0B2034"/>
                </a:solidFill>
              </a:rPr>
              <a:t>Overview</a:t>
            </a:r>
          </a:p>
        </p:txBody>
      </p:sp>
      <p:sp>
        <p:nvSpPr>
          <p:cNvPr id="9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951794AE-EAF1-4F93-B2A2-47E30D0F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Establish site context</a:t>
            </a:r>
          </a:p>
        </p:txBody>
      </p:sp>
      <p:sp>
        <p:nvSpPr>
          <p:cNvPr id="10" name="stage-2">
            <a:extLst xmlns:a="http://schemas.openxmlformats.org/drawingml/2006/main">
              <a:ext uri="{FF2B5EF4-FFF2-40B4-BE49-F238E27FC236}">
                <a16:creationId xmlns:a16="http://schemas.microsoft.com/office/drawing/2014/main" id="{ADBD3221-8FD8-49A7-AD36-F951FE36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11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9E83B55C-F921-400D-A492-51C56595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48C7247F-3B0D-47D8-9E74-9563F35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4"/>
                </a:solidFill>
              </a:defRPr>
            </a:pPr>
            <a:r>
              <a:rPr sz="1650" b="1">
                <a:solidFill>
                  <a:srgbClr val="0B2034"/>
                </a:solidFill>
              </a:rPr>
              <a:t>Collect</a:t>
            </a:r>
          </a:p>
        </p:txBody>
      </p:sp>
      <p:sp>
        <p:nvSpPr>
          <p:cNvPr id="13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66F4EE10-C543-4D95-9A63-1D451C89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Choose least intrusive evidence</a:t>
            </a:r>
          </a:p>
        </p:txBody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A6E559FE-7DF6-4F1A-9B5A-84C3A76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15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8214FCE8-5C37-4519-9534-EA5F18DC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212C9F63-9317-4EC1-B52D-5DFBF323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4"/>
                </a:solidFill>
              </a:defRPr>
            </a:pPr>
            <a:r>
              <a:rPr sz="1650" b="1">
                <a:solidFill>
                  <a:srgbClr val="0B2034"/>
                </a:solidFill>
              </a:rPr>
              <a:t>Assets</a:t>
            </a:r>
          </a:p>
        </p:txBody>
      </p:sp>
      <p:sp>
        <p:nvSpPr>
          <p:cNvPr id="17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D289E831-E2CF-4A01-95A3-0A4FCA86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Review observations</a:t>
            </a:r>
          </a:p>
        </p:txBody>
      </p:sp>
      <p:sp>
        <p:nvSpPr>
          <p:cNvPr id="18" name="stage-4">
            <a:extLst xmlns:a="http://schemas.openxmlformats.org/drawingml/2006/main">
              <a:ext uri="{FF2B5EF4-FFF2-40B4-BE49-F238E27FC236}">
                <a16:creationId xmlns:a16="http://schemas.microsoft.com/office/drawing/2014/main" id="{EF580BA1-2B36-4599-9071-5C4CA84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19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3A7BD7E5-159E-4EBC-8639-6AD21D6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034"/>
                </a:solidFill>
              </a:defRPr>
            </a:pPr>
            <a:r>
              <a:rPr sz="1425" b="1">
                <a:solidFill>
                  <a:srgbClr val="0B2034"/>
                </a:solidFill>
              </a:rPr>
              <a:t>4</a:t>
            </a:r>
          </a:p>
        </p:txBody>
      </p:sp>
      <p:sp>
        <p:nvSpPr>
          <p:cNvPr id="20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533C80C9-FD0E-439F-BBFE-B1790D36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00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4"/>
                </a:solidFill>
              </a:defRPr>
            </a:pPr>
            <a:r>
              <a:rPr sz="1650" b="1">
                <a:solidFill>
                  <a:srgbClr val="0B2034"/>
                </a:solidFill>
              </a:rPr>
              <a:t>Findings</a:t>
            </a:r>
          </a:p>
        </p:txBody>
      </p:sp>
      <p:sp>
        <p:nvSpPr>
          <p:cNvPr id="21" name="stage-detail-4">
            <a:extLst xmlns:a="http://schemas.openxmlformats.org/drawingml/2006/main">
              <a:ext uri="{FF2B5EF4-FFF2-40B4-BE49-F238E27FC236}">
                <a16:creationId xmlns:a16="http://schemas.microsoft.com/office/drawing/2014/main" id="{56ECC05D-FD1A-4D2B-B92D-9FA47B5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State evidence and limits</a:t>
            </a:r>
          </a:p>
        </p:txBody>
      </p:sp>
      <p:sp>
        <p:nvSpPr>
          <p:cNvPr id="22" name="stage-5">
            <a:extLst xmlns:a="http://schemas.openxmlformats.org/drawingml/2006/main">
              <a:ext uri="{FF2B5EF4-FFF2-40B4-BE49-F238E27FC236}">
                <a16:creationId xmlns:a16="http://schemas.microsoft.com/office/drawing/2014/main" id="{2C4AE5BD-0659-4DA4-BC31-FACD092F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23" name="stage-number-5">
            <a:extLst xmlns:a="http://schemas.openxmlformats.org/drawingml/2006/main">
              <a:ext uri="{FF2B5EF4-FFF2-40B4-BE49-F238E27FC236}">
                <a16:creationId xmlns:a16="http://schemas.microsoft.com/office/drawing/2014/main" id="{0C94388D-8803-4378-9698-1CD58183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034"/>
                </a:solidFill>
              </a:defRPr>
            </a:pPr>
            <a:r>
              <a:rPr sz="1425" b="1">
                <a:solidFill>
                  <a:srgbClr val="0B2034"/>
                </a:solidFill>
              </a:rPr>
              <a:t>5</a:t>
            </a:r>
          </a:p>
        </p:txBody>
      </p:sp>
      <p:sp>
        <p:nvSpPr>
          <p:cNvPr id="24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2B04D4D0-5312-4F8E-A029-9DF2A96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43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034"/>
                </a:solidFill>
              </a:defRPr>
            </a:pPr>
            <a:r>
              <a:rPr sz="1650" b="1">
                <a:solidFill>
                  <a:srgbClr val="0B2034"/>
                </a:solidFill>
              </a:rPr>
              <a:t>Report</a:t>
            </a:r>
          </a:p>
        </p:txBody>
      </p:sp>
      <p:sp>
        <p:nvSpPr>
          <p:cNvPr id="25" name="stage-detail-5">
            <a:extLst xmlns:a="http://schemas.openxmlformats.org/drawingml/2006/main">
              <a:ext uri="{FF2B5EF4-FFF2-40B4-BE49-F238E27FC236}">
                <a16:creationId xmlns:a16="http://schemas.microsoft.com/office/drawing/2014/main" id="{278A1F59-87C4-4A25-ABC6-B84AD74A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6"/>
                </a:solidFill>
              </a:defRPr>
            </a:pPr>
            <a:r>
              <a:rPr sz="1500" b="0">
                <a:solidFill>
                  <a:srgbClr val="526176"/>
                </a:solidFill>
              </a:rPr>
              <a:t>Expose readiness blockers</a:t>
            </a:r>
          </a:p>
        </p:txBody>
      </p:sp>
      <p:sp>
        <p:nvSpPr>
          <p:cNvPr id="26" name="frame-03-site-dashboard-api35.png">
            <a:extLst xmlns:a="http://schemas.openxmlformats.org/drawingml/2006/main">
              <a:ext uri="{FF2B5EF4-FFF2-40B4-BE49-F238E27FC236}">
                <a16:creationId xmlns:a16="http://schemas.microsoft.com/office/drawing/2014/main" id="{1C086CC3-FE2E-4BB4-B4E0-92F6208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71700"/>
            <a:ext cx="2800350" cy="4152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c7a9949d942a9"/>
          <a:stretch xmlns:a="http://schemas.openxmlformats.org/drawingml/2006/main"/>
        </p:blipFill>
        <p:spPr>
          <a:xfrm xmlns:a="http://schemas.openxmlformats.org/drawingml/2006/main">
            <a:off x="8853488" y="2247900"/>
            <a:ext cx="1800225" cy="400050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</p:spTree>
    <p:extLst>
      <p:ext uri="{BB962C8B-B14F-4D97-AF65-F5344CB8AC3E}">
        <p14:creationId xmlns:p14="http://schemas.microsoft.com/office/powerpoint/2010/main" val="96961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">
            <a:extLst xmlns:a="http://schemas.openxmlformats.org/drawingml/2006/main">
              <a:ext uri="{FF2B5EF4-FFF2-40B4-BE49-F238E27FC236}">
                <a16:creationId xmlns:a16="http://schemas.microsoft.com/office/drawing/2014/main" id="{CDA6EF99-BFC6-4168-B0B2-A838A744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D694FDC-E6C9-4DEC-949D-377856BB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COLLECTION POLICY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13617D-1423-44A6-9D6E-48F61B5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Passive evidence is the default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C349304-0952-4066-B213-9329843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Start with the evidence gap, then choose the least intrusive method that can close it.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3087FD-2D92-44BF-AD06-7C25B7C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big-number">
            <a:extLst xmlns:a="http://schemas.openxmlformats.org/drawingml/2006/main">
              <a:ext uri="{FF2B5EF4-FFF2-40B4-BE49-F238E27FC236}">
                <a16:creationId xmlns:a16="http://schemas.microsoft.com/office/drawing/2014/main" id="{443C787B-AEEE-4DC6-8761-0605D3F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2B5DDB"/>
                </a:solidFill>
              </a:defRPr>
            </a:pPr>
            <a:r>
              <a:rPr sz="6900" b="1">
                <a:solidFill>
                  <a:srgbClr val="2B5DDB"/>
                </a:solidFill>
              </a:rPr>
              <a:t>0</a:t>
            </a:r>
          </a:p>
        </p:txBody>
      </p:sp>
      <p:sp>
        <p:nvSpPr>
          <p:cNvPr id="7" name="big-label">
            <a:extLst xmlns:a="http://schemas.openxmlformats.org/drawingml/2006/main">
              <a:ext uri="{FF2B5EF4-FFF2-40B4-BE49-F238E27FC236}">
                <a16:creationId xmlns:a16="http://schemas.microsoft.com/office/drawing/2014/main" id="{3DD3507B-A673-4113-9687-D66DAFA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034"/>
                </a:solidFill>
              </a:defRPr>
            </a:pPr>
            <a:r>
              <a:rPr sz="2100" b="1">
                <a:solidFill>
                  <a:srgbClr val="0B2034"/>
                </a:solidFill>
              </a:rPr>
              <a:t>packets transmitted by imported capture analysis</a:t>
            </a:r>
          </a:p>
        </p:txBody>
      </p:sp>
      <p:sp>
        <p:nvSpPr>
          <p:cNvPr id="8" name="bullet-405">
            <a:extLst xmlns:a="http://schemas.openxmlformats.org/drawingml/2006/main">
              <a:ext uri="{FF2B5EF4-FFF2-40B4-BE49-F238E27FC236}">
                <a16:creationId xmlns:a16="http://schemas.microsoft.com/office/drawing/2014/main" id="{164F3FEE-37F3-4FF2-A497-DB0E429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Analyze customer-supplied PCAP / PCAPNG</a:t>
            </a:r>
          </a:p>
        </p:txBody>
      </p:sp>
      <p:sp>
        <p:nvSpPr>
          <p:cNvPr id="9" name="bullet-463">
            <a:extLst xmlns:a="http://schemas.openxmlformats.org/drawingml/2006/main">
              <a:ext uri="{FF2B5EF4-FFF2-40B4-BE49-F238E27FC236}">
                <a16:creationId xmlns:a16="http://schemas.microsoft.com/office/drawing/2014/main" id="{09F4519D-2893-4299-889D-1B301C6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Observe an approved SPAN / TAP interface</a:t>
            </a:r>
          </a:p>
        </p:txBody>
      </p:sp>
      <p:sp>
        <p:nvSpPr>
          <p:cNvPr id="10" name="bullet-521">
            <a:extLst xmlns:a="http://schemas.openxmlformats.org/drawingml/2006/main">
              <a:ext uri="{FF2B5EF4-FFF2-40B4-BE49-F238E27FC236}">
                <a16:creationId xmlns:a16="http://schemas.microsoft.com/office/drawing/2014/main" id="{3265B79F-5828-463F-9D7E-359A67CE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Escalate only for one named identity gap</a:t>
            </a:r>
          </a:p>
        </p:txBody>
      </p:sp>
      <p:sp>
        <p:nvSpPr>
          <p:cNvPr id="11" name="frame-04-collection-methods-api35.png">
            <a:extLst xmlns:a="http://schemas.openxmlformats.org/drawingml/2006/main">
              <a:ext uri="{FF2B5EF4-FFF2-40B4-BE49-F238E27FC236}">
                <a16:creationId xmlns:a16="http://schemas.microsoft.com/office/drawing/2014/main" id="{31758BD3-82DE-4545-88B0-D8642E61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71700"/>
            <a:ext cx="2800350" cy="4152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182f3cd664b25"/>
          <a:stretch xmlns:a="http://schemas.openxmlformats.org/drawingml/2006/main"/>
        </p:blipFill>
        <p:spPr>
          <a:xfrm xmlns:a="http://schemas.openxmlformats.org/drawingml/2006/main">
            <a:off x="8853488" y="2247900"/>
            <a:ext cx="1800225" cy="400050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</p:spTree>
    <p:extLst>
      <p:ext uri="{BB962C8B-B14F-4D97-AF65-F5344CB8AC3E}">
        <p14:creationId xmlns:p14="http://schemas.microsoft.com/office/powerpoint/2010/main" val="664876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1986B323-BDDC-404B-B998-C7600C4C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9C44C1E-9230-4836-882B-6A3CCAF1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EVIDENCE BEFORE INVENTORY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F3C725-6120-488A-8109-2D99C6A1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Traffic becomes reviewable observations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48F3C48-CA08-4052-86B5-FEBC727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Protocol and endpoint evidence never mutates inventory until the assessor makes an explicit decision.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0B2B5A5-0021-43C7-AE67-9348BF07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B4C59FCC-43C3-4B86-A3D8-B5218631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6429375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7" name="decision-eyebrow">
            <a:extLst xmlns:a="http://schemas.openxmlformats.org/drawingml/2006/main">
              <a:ext uri="{FF2B5EF4-FFF2-40B4-BE49-F238E27FC236}">
                <a16:creationId xmlns:a16="http://schemas.microsoft.com/office/drawing/2014/main" id="{8E933A46-8E6C-4F53-93F9-C526588A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ANALYST DECISION</a:t>
            </a:r>
          </a:p>
        </p:txBody>
      </p:sp>
      <p:sp>
        <p:nvSpPr>
          <p:cNvPr id="8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C789FB6E-ACAB-4FD3-996E-67C139B0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6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034"/>
                </a:solidFill>
              </a:defRPr>
            </a:pPr>
            <a:r>
              <a:rPr sz="2250" b="1">
                <a:solidFill>
                  <a:srgbClr val="0B2034"/>
                </a:solidFill>
              </a:rPr>
              <a:t>Accept supported observations.</a:t>
            </a:r>
          </a:p>
          <a:p xmlns:a="http://schemas.openxmlformats.org/drawingml/2006/main">
            <a:pPr algn="l">
              <a:defRPr sz="2250" b="1">
                <a:solidFill>
                  <a:srgbClr val="0B2034"/>
                </a:solidFill>
              </a:defRPr>
            </a:pPr>
            <a:r>
              <a:rPr sz="2250" b="1">
                <a:solidFill>
                  <a:srgbClr val="0B2034"/>
                </a:solidFill>
              </a:rPr>
              <a:t>Leave ambiguous identities unresolved.</a:t>
            </a:r>
          </a:p>
        </p:txBody>
      </p:sp>
      <p:sp>
        <p:nvSpPr>
          <p:cNvPr id="9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2E07C04B-C29F-4DA1-8FCD-7832013F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76"/>
                </a:solidFill>
              </a:defRPr>
            </a:pPr>
            <a:r>
              <a:rPr sz="1575" b="0">
                <a:solidFill>
                  <a:srgbClr val="526176"/>
                </a:solidFill>
              </a:rPr>
              <a:t>The raw source, hash, protocol, endpoint, role inference and confidence remain attached for later review.</a:t>
            </a:r>
          </a:p>
        </p:txBody>
      </p:sp>
      <p:sp>
        <p:nvSpPr>
          <p:cNvPr id="10" name="frame-06-live-span-result-api35.png">
            <a:extLst xmlns:a="http://schemas.openxmlformats.org/drawingml/2006/main">
              <a:ext uri="{FF2B5EF4-FFF2-40B4-BE49-F238E27FC236}">
                <a16:creationId xmlns:a16="http://schemas.microsoft.com/office/drawing/2014/main" id="{6802DDF9-29DE-46B4-BED7-AAB22964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71700"/>
            <a:ext cx="2800350" cy="4152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605a7db2f405e"/>
          <a:stretch xmlns:a="http://schemas.openxmlformats.org/drawingml/2006/main"/>
        </p:blipFill>
        <p:spPr>
          <a:xfrm xmlns:a="http://schemas.openxmlformats.org/drawingml/2006/main">
            <a:off x="8662988" y="2247900"/>
            <a:ext cx="1800225" cy="400050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</p:spTree>
    <p:extLst>
      <p:ext uri="{BB962C8B-B14F-4D97-AF65-F5344CB8AC3E}">
        <p14:creationId xmlns:p14="http://schemas.microsoft.com/office/powerpoint/2010/main" val="1183004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66CE45DA-E84D-4B96-952C-0E82B50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597A65B-B69B-4272-AEDF-662B59C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ACTIVE IDENTITY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8D1D3A-BCD8-4D9C-B8AA-2F87740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One request, one target, one authorization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C5ED4A5-7F89-44DE-A2DB-16C39D43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The PoC exposes one bounded Modbus identity operation — never a subnet, port, unit-ID or vulnerability sweep.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072550C-80FB-4505-9915-686EA83B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frame-05-active-authorization-api35.png">
            <a:extLst xmlns:a="http://schemas.openxmlformats.org/drawingml/2006/main">
              <a:ext uri="{FF2B5EF4-FFF2-40B4-BE49-F238E27FC236}">
                <a16:creationId xmlns:a16="http://schemas.microsoft.com/office/drawing/2014/main" id="{E352C1D9-1D85-4743-AEEA-0923B338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2533650" cy="3676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822913a114493"/>
          <a:stretch xmlns:a="http://schemas.openxmlformats.org/drawingml/2006/main"/>
        </p:blipFill>
        <p:spPr>
          <a:xfrm xmlns:a="http://schemas.openxmlformats.org/drawingml/2006/main">
            <a:off x="1750219" y="2381250"/>
            <a:ext cx="1585913" cy="3524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frame-06-out-of-scope-blocked-api35.png">
            <a:extLst xmlns:a="http://schemas.openxmlformats.org/drawingml/2006/main">
              <a:ext uri="{FF2B5EF4-FFF2-40B4-BE49-F238E27FC236}">
                <a16:creationId xmlns:a16="http://schemas.microsoft.com/office/drawing/2014/main" id="{E9CCB363-613F-4B5B-959F-7B585AB6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05050"/>
            <a:ext cx="2533650" cy="3676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758cc72fe44f9"/>
          <a:stretch xmlns:a="http://schemas.openxmlformats.org/drawingml/2006/main"/>
        </p:blipFill>
        <p:spPr>
          <a:xfrm xmlns:a="http://schemas.openxmlformats.org/drawingml/2006/main">
            <a:off x="5303044" y="2381250"/>
            <a:ext cx="1585913" cy="3524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0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AE97C8DF-10AD-4C62-8157-6BA1846E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323850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071D31"/>
          </a:solidFill>
          <a:ln xmlns:a="http://schemas.openxmlformats.org/drawingml/2006/main" w="9525">
            <a:solidFill>
              <a:srgbClr val="071D31"/>
            </a:solidFill>
            <a:prstDash val="solid"/>
          </a:ln>
        </p:spPr>
      </p:sp>
      <p:sp>
        <p:nvSpPr>
          <p:cNvPr id="11" name="guardrail-title">
            <a:extLst xmlns:a="http://schemas.openxmlformats.org/drawingml/2006/main">
              <a:ext uri="{FF2B5EF4-FFF2-40B4-BE49-F238E27FC236}">
                <a16:creationId xmlns:a16="http://schemas.microsoft.com/office/drawing/2014/main" id="{9E918347-0015-4FF0-934B-C11A3D24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B9FF"/>
                </a:solidFill>
              </a:defRPr>
            </a:pPr>
            <a:r>
              <a:rPr sz="2250" b="1">
                <a:solidFill>
                  <a:srgbClr val="9BB9FF"/>
                </a:solidFill>
              </a:rPr>
              <a:t>Fail closed</a:t>
            </a:r>
          </a:p>
        </p:txBody>
      </p:sp>
      <p:sp>
        <p:nvSpPr>
          <p:cNvPr id="12" name="bullet-362">
            <a:extLst xmlns:a="http://schemas.openxmlformats.org/drawingml/2006/main">
              <a:ext uri="{FF2B5EF4-FFF2-40B4-BE49-F238E27FC236}">
                <a16:creationId xmlns:a16="http://schemas.microsoft.com/office/drawing/2014/main" id="{CE76318F-4AB1-4C1E-BAE1-98460D0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Signed, expiring, one-use grant</a:t>
            </a:r>
          </a:p>
        </p:txBody>
      </p:sp>
      <p:sp>
        <p:nvSpPr>
          <p:cNvPr id="13" name="bullet-422">
            <a:extLst xmlns:a="http://schemas.openxmlformats.org/drawingml/2006/main">
              <a:ext uri="{FF2B5EF4-FFF2-40B4-BE49-F238E27FC236}">
                <a16:creationId xmlns:a16="http://schemas.microsoft.com/office/drawing/2014/main" id="{53163A0C-DE66-4770-869B-8483BF43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195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Exact target and CIDR</a:t>
            </a:r>
          </a:p>
        </p:txBody>
      </p:sp>
      <p:sp>
        <p:nvSpPr>
          <p:cNvPr id="14" name="bullet-482">
            <a:extLst xmlns:a="http://schemas.openxmlformats.org/drawingml/2006/main">
              <a:ext uri="{FF2B5EF4-FFF2-40B4-BE49-F238E27FC236}">
                <a16:creationId xmlns:a16="http://schemas.microsoft.com/office/drawing/2014/main" id="{3BB5454A-A8FA-4E4D-A796-88B4131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3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Blocked before transmission</a:t>
            </a:r>
          </a:p>
        </p:txBody>
      </p:sp>
    </p:spTree>
    <p:extLst>
      <p:ext uri="{BB962C8B-B14F-4D97-AF65-F5344CB8AC3E}">
        <p14:creationId xmlns:p14="http://schemas.microsoft.com/office/powerpoint/2010/main" val="1291179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">
            <a:extLst xmlns:a="http://schemas.openxmlformats.org/drawingml/2006/main">
              <a:ext uri="{FF2B5EF4-FFF2-40B4-BE49-F238E27FC236}">
                <a16:creationId xmlns:a16="http://schemas.microsoft.com/office/drawing/2014/main" id="{BBE74382-51C2-4D4A-A015-045364F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4D761D9-5175-49B9-BAC2-39E2EB52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DECISION SURFACE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DE3438-587E-40FE-B466-B1DF5742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Inventory keeps evidence and uncertainty visible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C184A5A-D044-4014-8E80-6FA6AC70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Search and filter by zone, protocol, vendor, confidence and review state — then trace each asset back to evidence.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2C2F6F9-2200-4FD9-85EF-DC16F757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frame-07-asset-inventory-api35.png">
            <a:extLst xmlns:a="http://schemas.openxmlformats.org/drawingml/2006/main">
              <a:ext uri="{FF2B5EF4-FFF2-40B4-BE49-F238E27FC236}">
                <a16:creationId xmlns:a16="http://schemas.microsoft.com/office/drawing/2014/main" id="{A45246DB-8123-4C47-9FBA-21F3BDC0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47900"/>
            <a:ext cx="2867025" cy="4152900"/>
          </a:xfrm>
          <a:prstGeom xmlns:a="http://schemas.openxmlformats.org/drawingml/2006/main" prst="roundRect">
            <a:avLst>
              <a:gd name="adj" fmla="val 39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d8b44a91a46a5"/>
          <a:stretch xmlns:a="http://schemas.openxmlformats.org/drawingml/2006/main"/>
        </p:blipFill>
        <p:spPr>
          <a:xfrm xmlns:a="http://schemas.openxmlformats.org/drawingml/2006/main">
            <a:off x="1809750" y="2324100"/>
            <a:ext cx="1800225" cy="40005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8" name="inventory-title">
            <a:extLst xmlns:a="http://schemas.openxmlformats.org/drawingml/2006/main">
              <a:ext uri="{FF2B5EF4-FFF2-40B4-BE49-F238E27FC236}">
                <a16:creationId xmlns:a16="http://schemas.microsoft.com/office/drawing/2014/main" id="{CCFB7FE1-161E-403B-B9AD-2B89F794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5DDB"/>
                </a:solidFill>
              </a:defRPr>
            </a:pPr>
            <a:r>
              <a:rPr sz="2175" b="1">
                <a:solidFill>
                  <a:srgbClr val="2B5DDB"/>
                </a:solidFill>
              </a:rPr>
              <a:t>The useful questions</a:t>
            </a:r>
          </a:p>
        </p:txBody>
      </p:sp>
      <p:sp>
        <p:nvSpPr>
          <p:cNvPr id="9" name="bullet-348">
            <a:extLst xmlns:a="http://schemas.openxmlformats.org/drawingml/2006/main">
              <a:ext uri="{FF2B5EF4-FFF2-40B4-BE49-F238E27FC236}">
                <a16:creationId xmlns:a16="http://schemas.microsoft.com/office/drawing/2014/main" id="{B5D80CB0-8A66-4C83-9E40-072BCF1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Which expected records are corroborated?</a:t>
            </a:r>
          </a:p>
        </p:txBody>
      </p:sp>
      <p:sp>
        <p:nvSpPr>
          <p:cNvPr id="10" name="bullet-414">
            <a:extLst xmlns:a="http://schemas.openxmlformats.org/drawingml/2006/main">
              <a:ext uri="{FF2B5EF4-FFF2-40B4-BE49-F238E27FC236}">
                <a16:creationId xmlns:a16="http://schemas.microsoft.com/office/drawing/2014/main" id="{7B4810A5-327F-46E3-92B1-13E84E5A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Which observed assets remain unidentified?</a:t>
            </a:r>
          </a:p>
        </p:txBody>
      </p:sp>
      <p:sp>
        <p:nvSpPr>
          <p:cNvPr id="11" name="bullet-480">
            <a:extLst xmlns:a="http://schemas.openxmlformats.org/drawingml/2006/main">
              <a:ext uri="{FF2B5EF4-FFF2-40B4-BE49-F238E27FC236}">
                <a16:creationId xmlns:a16="http://schemas.microsoft.com/office/drawing/2014/main" id="{301574D6-5BFA-4A54-9C9A-8CCE2CED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Where do evidence sources conflict?</a:t>
            </a:r>
          </a:p>
        </p:txBody>
      </p:sp>
      <p:sp>
        <p:nvSpPr>
          <p:cNvPr id="12" name="bullet-546">
            <a:extLst xmlns:a="http://schemas.openxmlformats.org/drawingml/2006/main">
              <a:ext uri="{FF2B5EF4-FFF2-40B4-BE49-F238E27FC236}">
                <a16:creationId xmlns:a16="http://schemas.microsoft.com/office/drawing/2014/main" id="{1D579339-2113-4CEB-9EF9-F05EACB2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What must be reviewed before handoff?</a:t>
            </a:r>
          </a:p>
        </p:txBody>
      </p:sp>
    </p:spTree>
    <p:extLst>
      <p:ext uri="{BB962C8B-B14F-4D97-AF65-F5344CB8AC3E}">
        <p14:creationId xmlns:p14="http://schemas.microsoft.com/office/powerpoint/2010/main" val="1416995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624689B-C5F0-4292-8AAC-CB7A871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1C5B6AE-9823-4412-B756-1180CA8D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CONTROLLED HANDOFF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BE85D2-D464-48A8-95CE-F72E88E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Incomplete work remains visibly blocked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E4B5935-F11B-4879-8474-850A628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Report readiness separates supported local case data from missing approval, reviewer and production-export controls.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AB28501-388A-4B53-AB27-7BC61689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readiness">
            <a:extLst xmlns:a="http://schemas.openxmlformats.org/drawingml/2006/main">
              <a:ext uri="{FF2B5EF4-FFF2-40B4-BE49-F238E27FC236}">
                <a16:creationId xmlns:a16="http://schemas.microsoft.com/office/drawing/2014/main" id="{8C85B066-F24B-4091-80A0-6AE5093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5151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7" name="ready">
            <a:extLst xmlns:a="http://schemas.openxmlformats.org/drawingml/2006/main">
              <a:ext uri="{FF2B5EF4-FFF2-40B4-BE49-F238E27FC236}">
                <a16:creationId xmlns:a16="http://schemas.microsoft.com/office/drawing/2014/main" id="{36879C09-7330-47D5-B0B4-0A94C4F5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55F"/>
                </a:solidFill>
              </a:defRPr>
            </a:pPr>
            <a:r>
              <a:rPr sz="2175" b="1">
                <a:solidFill>
                  <a:srgbClr val="16855F"/>
                </a:solidFill>
              </a:rPr>
              <a:t>✓  Site context</a:t>
            </a:r>
          </a:p>
          <a:p xmlns:a="http://schemas.openxmlformats.org/drawingml/2006/main">
            <a:pPr algn="l">
              <a:defRPr sz="2175" b="1">
                <a:solidFill>
                  <a:srgbClr val="16855F"/>
                </a:solidFill>
              </a:defRPr>
            </a:pPr>
            <a:r>
              <a:rPr sz="2175" b="1">
                <a:solidFill>
                  <a:srgbClr val="16855F"/>
                </a:solidFill>
              </a:rPr>
              <a:t>✓  Evidence-backed inventory</a:t>
            </a:r>
          </a:p>
        </p:txBody>
      </p:sp>
      <p:sp>
        <p:nvSpPr>
          <p:cNvPr id="8" name="blocked">
            <a:extLst xmlns:a="http://schemas.openxmlformats.org/drawingml/2006/main">
              <a:ext uri="{FF2B5EF4-FFF2-40B4-BE49-F238E27FC236}">
                <a16:creationId xmlns:a16="http://schemas.microsoft.com/office/drawing/2014/main" id="{B4D36507-9F88-476F-B243-4821D38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6500A"/>
                </a:solidFill>
              </a:defRPr>
            </a:pPr>
            <a:r>
              <a:rPr sz="1875" b="1">
                <a:solidFill>
                  <a:srgbClr val="B6500A"/>
                </a:solidFill>
              </a:rPr>
              <a:t>!  Observation review</a:t>
            </a:r>
          </a:p>
          <a:p xmlns:a="http://schemas.openxmlformats.org/drawingml/2006/main">
            <a:pPr algn="l">
              <a:defRPr sz="1875" b="1">
                <a:solidFill>
                  <a:srgbClr val="B6500A"/>
                </a:solidFill>
              </a:defRPr>
            </a:pPr>
            <a:r>
              <a:rPr sz="1875" b="1">
                <a:solidFill>
                  <a:srgbClr val="B6500A"/>
                </a:solidFill>
              </a:rPr>
              <a:t>!  Signed authorization record</a:t>
            </a:r>
          </a:p>
          <a:p xmlns:a="http://schemas.openxmlformats.org/drawingml/2006/main">
            <a:pPr algn="l">
              <a:defRPr sz="1875" b="1">
                <a:solidFill>
                  <a:srgbClr val="B6500A"/>
                </a:solidFill>
              </a:defRPr>
            </a:pPr>
            <a:r>
              <a:rPr sz="1875" b="1">
                <a:solidFill>
                  <a:srgbClr val="B6500A"/>
                </a:solidFill>
              </a:rPr>
              <a:t>!  Independent reviewer</a:t>
            </a:r>
          </a:p>
        </p:txBody>
      </p:sp>
      <p:sp>
        <p:nvSpPr>
          <p:cNvPr id="9" name="frame-10-guided-report-readiness-api35.png">
            <a:extLst xmlns:a="http://schemas.openxmlformats.org/drawingml/2006/main">
              <a:ext uri="{FF2B5EF4-FFF2-40B4-BE49-F238E27FC236}">
                <a16:creationId xmlns:a16="http://schemas.microsoft.com/office/drawing/2014/main" id="{1CDE08DC-A9A2-4F79-8172-A55DC60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71700"/>
            <a:ext cx="2800350" cy="4152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b09d11bf94bc0"/>
          <a:stretch xmlns:a="http://schemas.openxmlformats.org/drawingml/2006/main"/>
        </p:blipFill>
        <p:spPr>
          <a:xfrm xmlns:a="http://schemas.openxmlformats.org/drawingml/2006/main">
            <a:off x="8662988" y="2247900"/>
            <a:ext cx="1800225" cy="400050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</p:spTree>
    <p:extLst>
      <p:ext uri="{BB962C8B-B14F-4D97-AF65-F5344CB8AC3E}">
        <p14:creationId xmlns:p14="http://schemas.microsoft.com/office/powerpoint/2010/main" val="1975698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B712C140-DB6F-4943-8404-8411553D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00806DB-6032-4A77-80AD-E65E003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DDB"/>
                </a:solidFill>
              </a:defRPr>
            </a:pPr>
            <a:r>
              <a:rPr sz="1200" b="1">
                <a:solidFill>
                  <a:srgbClr val="2B5DDB"/>
                </a:solidFill>
              </a:rPr>
              <a:t>WHAT THE EVIDENCE PROVES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57ADF9-E9C2-4931-89A1-723651A8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2034"/>
                </a:solidFill>
              </a:defRPr>
            </a:pPr>
            <a:r>
              <a:rPr sz="3225" b="1">
                <a:solidFill>
                  <a:srgbClr val="0B2034"/>
                </a:solidFill>
              </a:rPr>
              <a:t>Automated emulation is strong evidence — within a stated boundary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8F3EEFC-B9A2-42A6-BD4B-067A7BCC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76"/>
                </a:solidFill>
              </a:defRPr>
            </a:pPr>
            <a:r>
              <a:rPr sz="1725" b="0">
                <a:solidFill>
                  <a:srgbClr val="526176"/>
                </a:solidFill>
              </a:rPr>
              <a:t>The current proof covers application behavior, broker isolation and controlled testbeds; physical qualification remains a release gate.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56E71F0-9994-4A17-B1BB-46C3282C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865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ATLAS OT SCOUT  •  P0-WATER  •  CONTROLLED LAB EVIDENCE</a:t>
            </a:r>
          </a:p>
        </p:txBody>
      </p:sp>
      <p:sp>
        <p:nvSpPr>
          <p:cNvPr id="6" name="proven">
            <a:extLst xmlns:a="http://schemas.openxmlformats.org/drawingml/2006/main">
              <a:ext uri="{FF2B5EF4-FFF2-40B4-BE49-F238E27FC236}">
                <a16:creationId xmlns:a16="http://schemas.microsoft.com/office/drawing/2014/main" id="{D54D7113-D925-4080-B5EF-373C7276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6"/>
            </a:solidFill>
            <a:prstDash val="solid"/>
          </a:ln>
        </p:spPr>
      </p:sp>
      <p:sp>
        <p:nvSpPr>
          <p:cNvPr id="7" name="proven-head">
            <a:extLst xmlns:a="http://schemas.openxmlformats.org/drawingml/2006/main">
              <a:ext uri="{FF2B5EF4-FFF2-40B4-BE49-F238E27FC236}">
                <a16:creationId xmlns:a16="http://schemas.microsoft.com/office/drawing/2014/main" id="{A0259A98-98C6-4C50-85F4-B80C9AC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55F"/>
                </a:solidFill>
              </a:defRPr>
            </a:pPr>
            <a:r>
              <a:rPr sz="1275" b="1">
                <a:solidFill>
                  <a:srgbClr val="16855F"/>
                </a:solidFill>
              </a:rPr>
              <a:t>PROVEN IN CI</a:t>
            </a:r>
          </a:p>
        </p:txBody>
      </p:sp>
      <p:sp>
        <p:nvSpPr>
          <p:cNvPr id="8" name="bullet-345">
            <a:extLst xmlns:a="http://schemas.openxmlformats.org/drawingml/2006/main">
              <a:ext uri="{FF2B5EF4-FFF2-40B4-BE49-F238E27FC236}">
                <a16:creationId xmlns:a16="http://schemas.microsoft.com/office/drawing/2014/main" id="{00FE9D1A-48B7-4D01-9A7F-7FA7EFDC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Android API 29 and API 35 journeys</a:t>
            </a:r>
          </a:p>
        </p:txBody>
      </p:sp>
      <p:sp>
        <p:nvSpPr>
          <p:cNvPr id="9" name="bullet-405">
            <a:extLst xmlns:a="http://schemas.openxmlformats.org/drawingml/2006/main">
              <a:ext uri="{FF2B5EF4-FFF2-40B4-BE49-F238E27FC236}">
                <a16:creationId xmlns:a16="http://schemas.microsoft.com/office/drawing/2014/main" id="{EDDE1011-3129-4AA4-B940-51691D3D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Passive protocol fixtures and capture boundary</a:t>
            </a:r>
          </a:p>
        </p:txBody>
      </p:sp>
      <p:sp>
        <p:nvSpPr>
          <p:cNvPr id="10" name="bullet-465">
            <a:extLst xmlns:a="http://schemas.openxmlformats.org/drawingml/2006/main">
              <a:ext uri="{FF2B5EF4-FFF2-40B4-BE49-F238E27FC236}">
                <a16:creationId xmlns:a16="http://schemas.microsoft.com/office/drawing/2014/main" id="{8B1D2643-6936-4A45-B541-3016BDA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034"/>
                </a:solidFill>
              </a:defRPr>
            </a:pPr>
            <a:r>
              <a:rPr sz="1650" b="0">
                <a:solidFill>
                  <a:srgbClr val="0B2034"/>
                </a:solidFill>
              </a:rPr>
              <a:t>•  PyModbus, Modbus-TK and Conpot outcomes</a:t>
            </a:r>
          </a:p>
        </p:txBody>
      </p:sp>
      <p:sp>
        <p:nvSpPr>
          <p:cNvPr id="11" name="not-yet">
            <a:extLst xmlns:a="http://schemas.openxmlformats.org/drawingml/2006/main">
              <a:ext uri="{FF2B5EF4-FFF2-40B4-BE49-F238E27FC236}">
                <a16:creationId xmlns:a16="http://schemas.microsoft.com/office/drawing/2014/main" id="{49C6A511-9304-48BA-BF7B-2B3FE1EE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149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71D31"/>
          </a:solidFill>
          <a:ln xmlns:a="http://schemas.openxmlformats.org/drawingml/2006/main" w="9525">
            <a:solidFill>
              <a:srgbClr val="071D31"/>
            </a:solidFill>
            <a:prstDash val="solid"/>
          </a:ln>
        </p:spPr>
      </p:sp>
      <p:sp>
        <p:nvSpPr>
          <p:cNvPr id="12" name="not-yet-head">
            <a:extLst xmlns:a="http://schemas.openxmlformats.org/drawingml/2006/main">
              <a:ext uri="{FF2B5EF4-FFF2-40B4-BE49-F238E27FC236}">
                <a16:creationId xmlns:a16="http://schemas.microsoft.com/office/drawing/2014/main" id="{8EA1B729-387F-463B-8E55-AF84D186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B9FF"/>
                </a:solidFill>
              </a:defRPr>
            </a:pPr>
            <a:r>
              <a:rPr sz="1275" b="1">
                <a:solidFill>
                  <a:srgbClr val="9BB9FF"/>
                </a:solidFill>
              </a:rPr>
              <a:t>PHYSICAL QUALIFICATION REQUIRED</a:t>
            </a:r>
          </a:p>
        </p:txBody>
      </p:sp>
      <p:sp>
        <p:nvSpPr>
          <p:cNvPr id="13" name="bullet-345">
            <a:extLst xmlns:a="http://schemas.openxmlformats.org/drawingml/2006/main">
              <a:ext uri="{FF2B5EF4-FFF2-40B4-BE49-F238E27FC236}">
                <a16:creationId xmlns:a16="http://schemas.microsoft.com/office/drawing/2014/main" id="{11E120AF-19AB-44FD-87DF-158A5269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Samsung model and locked appliance image</a:t>
            </a:r>
          </a:p>
        </p:txBody>
      </p:sp>
      <p:sp>
        <p:nvSpPr>
          <p:cNvPr id="14" name="bullet-405">
            <a:extLst xmlns:a="http://schemas.openxmlformats.org/drawingml/2006/main">
              <a:ext uri="{FF2B5EF4-FFF2-40B4-BE49-F238E27FC236}">
                <a16:creationId xmlns:a16="http://schemas.microsoft.com/office/drawing/2014/main" id="{A3FF944F-92B2-492E-8DE5-4022FD96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USB Ethernet, TAP and production traffic</a:t>
            </a:r>
          </a:p>
        </p:txBody>
      </p:sp>
      <p:sp>
        <p:nvSpPr>
          <p:cNvPr id="15" name="bullet-465">
            <a:extLst xmlns:a="http://schemas.openxmlformats.org/drawingml/2006/main">
              <a:ext uri="{FF2B5EF4-FFF2-40B4-BE49-F238E27FC236}">
                <a16:creationId xmlns:a16="http://schemas.microsoft.com/office/drawing/2014/main" id="{E9427C75-942D-46A7-A13F-4B7C8768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 Real PLC firmware and packet-loss limits</a:t>
            </a:r>
          </a:p>
        </p:txBody>
      </p:sp>
    </p:spTree>
    <p:extLst>
      <p:ext uri="{BB962C8B-B14F-4D97-AF65-F5344CB8AC3E}">
        <p14:creationId xmlns:p14="http://schemas.microsoft.com/office/powerpoint/2010/main" val="1651088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E17FEE1D-5B88-4C20-9B0D-AD61970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F4DFDC8-CBDC-4389-96E4-C3AE69B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B9FF"/>
                </a:solidFill>
              </a:defRPr>
            </a:pPr>
            <a:r>
              <a:rPr sz="1350" b="1">
                <a:solidFill>
                  <a:srgbClr val="9BB9FF"/>
                </a:solidFill>
              </a:rPr>
              <a:t>CONTROLLED P0-WATER PILOT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936CE3-64BF-4104-981D-ED32AB33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790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One segment. One bounded question. One reviewable handoff.</a:t>
            </a:r>
          </a:p>
        </p:txBody>
      </p:sp>
      <p:sp>
        <p:nvSpPr>
          <p:cNvPr id="4" name="pilot-1">
            <a:extLst xmlns:a="http://schemas.openxmlformats.org/drawingml/2006/main">
              <a:ext uri="{FF2B5EF4-FFF2-40B4-BE49-F238E27FC236}">
                <a16:creationId xmlns:a16="http://schemas.microsoft.com/office/drawing/2014/main" id="{7ACBACCC-6757-4EC0-94AA-28BEE0F8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5" name="pilot-number-1">
            <a:extLst xmlns:a="http://schemas.openxmlformats.org/drawingml/2006/main">
              <a:ext uri="{FF2B5EF4-FFF2-40B4-BE49-F238E27FC236}">
                <a16:creationId xmlns:a16="http://schemas.microsoft.com/office/drawing/2014/main" id="{44F1B096-3580-4BFC-B63B-D304E051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pilot-line-1">
            <a:extLst xmlns:a="http://schemas.openxmlformats.org/drawingml/2006/main">
              <a:ext uri="{FF2B5EF4-FFF2-40B4-BE49-F238E27FC236}">
                <a16:creationId xmlns:a16="http://schemas.microsoft.com/office/drawing/2014/main" id="{2993D8ED-2A0E-4F09-98F5-95D6D4A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051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one authorized water-sector segment</a:t>
            </a:r>
          </a:p>
        </p:txBody>
      </p:sp>
      <p:sp>
        <p:nvSpPr>
          <p:cNvPr id="7" name="pilot-2">
            <a:extLst xmlns:a="http://schemas.openxmlformats.org/drawingml/2006/main">
              <a:ext uri="{FF2B5EF4-FFF2-40B4-BE49-F238E27FC236}">
                <a16:creationId xmlns:a16="http://schemas.microsoft.com/office/drawing/2014/main" id="{0273FACC-8B39-4DE1-B48D-490A5329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8" name="pilot-number-2">
            <a:extLst xmlns:a="http://schemas.openxmlformats.org/drawingml/2006/main">
              <a:ext uri="{FF2B5EF4-FFF2-40B4-BE49-F238E27FC236}">
                <a16:creationId xmlns:a16="http://schemas.microsoft.com/office/drawing/2014/main" id="{4448C7AF-614E-4418-9770-2DFDFA0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pilot-line-2">
            <a:extLst xmlns:a="http://schemas.openxmlformats.org/drawingml/2006/main">
              <a:ext uri="{FF2B5EF4-FFF2-40B4-BE49-F238E27FC236}">
                <a16:creationId xmlns:a16="http://schemas.microsoft.com/office/drawing/2014/main" id="{510FDEBD-B87C-47C7-913F-4A9D471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Compare Atlas with the current inventory workflow</a:t>
            </a:r>
          </a:p>
        </p:txBody>
      </p:sp>
      <p:sp>
        <p:nvSpPr>
          <p:cNvPr id="10" name="pilot-3">
            <a:extLst xmlns:a="http://schemas.openxmlformats.org/drawingml/2006/main">
              <a:ext uri="{FF2B5EF4-FFF2-40B4-BE49-F238E27FC236}">
                <a16:creationId xmlns:a16="http://schemas.microsoft.com/office/drawing/2014/main" id="{2870E47C-D668-43E5-9701-B85CC349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DDB"/>
          </a:solidFill>
          <a:ln xmlns:a="http://schemas.openxmlformats.org/drawingml/2006/main" w="9525">
            <a:solidFill>
              <a:srgbClr val="2B5DDB"/>
            </a:solidFill>
            <a:prstDash val="solid"/>
          </a:ln>
        </p:spPr>
      </p:sp>
      <p:sp>
        <p:nvSpPr>
          <p:cNvPr id="11" name="pilot-number-3">
            <a:extLst xmlns:a="http://schemas.openxmlformats.org/drawingml/2006/main">
              <a:ext uri="{FF2B5EF4-FFF2-40B4-BE49-F238E27FC236}">
                <a16:creationId xmlns:a16="http://schemas.microsoft.com/office/drawing/2014/main" id="{3964EA9B-AD89-4960-9CA0-2C69ABA4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pilot-line-3">
            <a:extLst xmlns:a="http://schemas.openxmlformats.org/drawingml/2006/main">
              <a:ext uri="{FF2B5EF4-FFF2-40B4-BE49-F238E27FC236}">
                <a16:creationId xmlns:a16="http://schemas.microsoft.com/office/drawing/2014/main" id="{426D9725-2D4A-4552-9739-A1AAAA8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Measure corrections, unresolved identities and review effort</a:t>
            </a:r>
          </a:p>
        </p:txBody>
      </p:sp>
      <p:sp>
        <p:nvSpPr>
          <p:cNvPr id="13" name="closing">
            <a:extLst xmlns:a="http://schemas.openxmlformats.org/drawingml/2006/main">
              <a:ext uri="{FF2B5EF4-FFF2-40B4-BE49-F238E27FC236}">
                <a16:creationId xmlns:a16="http://schemas.microsoft.com/office/drawing/2014/main" id="{CC058D10-9F49-4B20-8FCC-FFD7EB0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ED9E7"/>
                </a:solidFill>
              </a:defRPr>
            </a:pPr>
            <a:r>
              <a:rPr sz="1500" b="0">
                <a:solidFill>
                  <a:srgbClr val="CED9E7"/>
                </a:solidFill>
              </a:rPr>
              <a:t>Witness the method. Review the evidence. Decide whether the workflow earns a field trial.</a:t>
            </a:r>
          </a:p>
        </p:txBody>
      </p:sp>
    </p:spTree>
    <p:extLst>
      <p:ext uri="{BB962C8B-B14F-4D97-AF65-F5344CB8AC3E}">
        <p14:creationId xmlns:p14="http://schemas.microsoft.com/office/powerpoint/2010/main" val="824776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2026-08-31T04:21:54.8160000Z</dcterms:created>
  <dcterms:modified xsi:type="dcterms:W3CDTF">2026-08-31T04:21:54.8160000Z</dcterms:modified>
</coreProperties>
</file>