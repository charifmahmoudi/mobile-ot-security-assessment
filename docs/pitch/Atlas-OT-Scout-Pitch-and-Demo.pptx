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customer outcome and the low-friction commercial model.
Do not open with technical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pilot, not on the acquisition.
The acquisition decision comes after the customer has used the appliance.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">
    <p:bg>
      <p:bgPr>
        <a:solidFill>
          <a:srgbClr val="F5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645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20" kern="0" dirty="0">
                <a:solidFill>
                  <a:srgbClr val="60758B"/>
                </a:solidFill>
              </a:rPr>
              <a:t>ATLAS OT SCOUT  /  P0-WATER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21792"/>
            <a:ext cx="2606040" cy="310896"/>
          </a:xfrm>
          <a:prstGeom prst="roundRect">
            <a:avLst>
              <a:gd name="adj" fmla="val 23529"/>
            </a:avLst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685800"/>
            <a:ext cx="25694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FREE PILOT · TRY BEFORE YOU BUY</a:t>
            </a:r>
            <a:endParaRPr lang="en-US" sz="820" dirty="0"/>
          </a:p>
        </p:txBody>
      </p:sp>
      <p:sp>
        <p:nvSpPr>
          <p:cNvPr id="5" name="Text 3"/>
          <p:cNvSpPr/>
          <p:nvPr/>
        </p:nvSpPr>
        <p:spPr>
          <a:xfrm>
            <a:off x="658368" y="1234440"/>
            <a:ext cx="7498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 what is really on your OT segment —</a:t>
            </a:r>
            <a:endParaRPr lang="en-US" sz="3150" dirty="0"/>
          </a:p>
          <a:p>
            <a:pPr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then decide whether Atlas is worth keeping.</a:t>
            </a:r>
            <a:endParaRPr lang="en-US" sz="3150" dirty="0"/>
          </a:p>
        </p:txBody>
      </p:sp>
      <p:sp>
        <p:nvSpPr>
          <p:cNvPr id="6" name="Text 4"/>
          <p:cNvSpPr/>
          <p:nvPr/>
        </p:nvSpPr>
        <p:spPr>
          <a:xfrm>
            <a:off x="685800" y="2999232"/>
            <a:ext cx="6903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D6E4EF"/>
                </a:solidFill>
              </a:rPr>
              <a:t>Atlas OT Scout is a guided, offline assessment appliance for water and wastewater teams. We deliver it, help you run a bounded pilot, leave it with you, and let your own experience decide the purchase.</a:t>
            </a:r>
            <a:endParaRPr lang="en-US" sz="1430" dirty="0"/>
          </a:p>
        </p:txBody>
      </p:sp>
      <p:sp>
        <p:nvSpPr>
          <p:cNvPr id="7" name="Shape 5"/>
          <p:cNvSpPr/>
          <p:nvPr/>
        </p:nvSpPr>
        <p:spPr>
          <a:xfrm>
            <a:off x="685800" y="4334256"/>
            <a:ext cx="5394960" cy="777240"/>
          </a:xfrm>
          <a:prstGeom prst="roundRect">
            <a:avLst>
              <a:gd name="adj" fmla="val 9412"/>
            </a:avLst>
          </a:prstGeom>
          <a:solidFill>
            <a:srgbClr val="123A57"/>
          </a:solidFill>
          <a:ln w="12700">
            <a:solidFill>
              <a:srgbClr val="285A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4553712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B6C7"/>
                </a:solidFill>
              </a:rPr>
              <a:t>Current state → guided evidence → desired state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549640" y="749808"/>
            <a:ext cx="2697480" cy="5212080"/>
          </a:xfrm>
          <a:prstGeom prst="roundRect">
            <a:avLst>
              <a:gd name="adj" fmla="val 4746"/>
            </a:avLst>
          </a:prstGeom>
          <a:solidFill>
            <a:srgbClr val="1C2F3D"/>
          </a:solidFill>
          <a:ln w="15240">
            <a:solidFill>
              <a:srgbClr val="385569"/>
            </a:solidFill>
            <a:prstDash val="solid"/>
          </a:ln>
          <a:effectLst>
            <a:outerShdw sx="100000" sy="100000" kx="0" ky="0" algn="bl" rotWithShape="0" blurRad="25400" dist="50800" dir="2700000">
              <a:srgbClr val="60758B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714232" y="950976"/>
            <a:ext cx="2368296" cy="4709160"/>
          </a:xfrm>
          <a:prstGeom prst="roundRect">
            <a:avLst>
              <a:gd name="adj" fmla="val 3089"/>
            </a:avLst>
          </a:prstGeom>
          <a:solidFill>
            <a:srgbClr val="F5F8FB"/>
          </a:solidFill>
          <a:ln w="8890">
            <a:solidFill>
              <a:srgbClr val="6E879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14232" y="950976"/>
            <a:ext cx="2368296" cy="201168"/>
          </a:xfrm>
          <a:prstGeom prst="rect">
            <a:avLst/>
          </a:prstGeom>
          <a:solidFill>
            <a:srgbClr val="0A2033"/>
          </a:solidFill>
          <a:ln w="12700">
            <a:solidFill>
              <a:srgbClr val="0A20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69680" y="1014984"/>
            <a:ext cx="2057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90" kern="0" dirty="0">
                <a:solidFill>
                  <a:srgbClr val="FFFFFF"/>
                </a:solidFill>
              </a:rPr>
              <a:t>ATLAS OT SCOUT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8933688" y="1709928"/>
            <a:ext cx="19293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OFFLINE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ASSESSMENT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APPLIANCE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843516" y="5760720"/>
            <a:ext cx="109728" cy="109728"/>
          </a:xfrm>
          <a:prstGeom prst="ellipse">
            <a:avLst/>
          </a:prstGeom>
          <a:solidFill>
            <a:srgbClr val="7D93A4"/>
          </a:solidFill>
          <a:ln w="12700">
            <a:solidFill>
              <a:srgbClr val="7D93A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5897880"/>
            <a:ext cx="6583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8FB2C8"/>
                </a:solidFill>
              </a:rPr>
              <a:t>NO CLOUD  ·  PASSIVE FIRST  ·  BOUNDED ACTIVE CHECKS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A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customer problem is not “lack of a scanner.”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It is the gap between what the organization thinks is on the segment and what it can actually defend today.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594360" y="1755648"/>
            <a:ext cx="516636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95528" y="1965960"/>
            <a:ext cx="502920" cy="310896"/>
          </a:xfrm>
          <a:prstGeom prst="roundRect">
            <a:avLst>
              <a:gd name="adj" fmla="val 23529"/>
            </a:avLst>
          </a:prstGeom>
          <a:solidFill>
            <a:srgbClr val="E8F8FA"/>
          </a:solidFill>
          <a:ln w="12700">
            <a:solidFill>
              <a:srgbClr val="E8F8F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3816" y="2029968"/>
            <a:ext cx="4663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B8D8A"/>
                </a:solidFill>
              </a:rPr>
              <a:t>01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1463040" y="196596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Inventory exists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95528" y="250545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0758B"/>
                </a:solidFill>
              </a:rPr>
              <a:t>But it may be stale, incomplete or inconsistent across spreadsheets, diagrams and field reality.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217920" y="1755648"/>
            <a:ext cx="516636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965960"/>
            <a:ext cx="502920" cy="310896"/>
          </a:xfrm>
          <a:prstGeom prst="roundRect">
            <a:avLst>
              <a:gd name="adj" fmla="val 23529"/>
            </a:avLst>
          </a:prstGeom>
          <a:solidFill>
            <a:srgbClr val="E8F8FA"/>
          </a:solidFill>
          <a:ln w="12700">
            <a:solidFill>
              <a:srgbClr val="E8F8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37376" y="2029968"/>
            <a:ext cx="4663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B8D8A"/>
                </a:solidFill>
              </a:rPr>
              <a:t>02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7086600" y="196596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Visibility is fragmented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19088" y="250545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0758B"/>
                </a:solidFill>
              </a:rPr>
              <a:t>Passive evidence, physical checks and device identity data live in different tools and notes.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594360" y="3694176"/>
            <a:ext cx="5166360" cy="1572768"/>
          </a:xfrm>
          <a:prstGeom prst="roundRect">
            <a:avLst>
              <a:gd name="adj" fmla="val 4651"/>
            </a:avLst>
          </a:prstGeom>
          <a:solidFill>
            <a:srgbClr val="FFF5DD"/>
          </a:solidFill>
          <a:ln w="12700">
            <a:solidFill>
              <a:srgbClr val="E6C887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95528" y="3904488"/>
            <a:ext cx="502920" cy="310896"/>
          </a:xfrm>
          <a:prstGeom prst="roundRect">
            <a:avLst>
              <a:gd name="adj" fmla="val 23529"/>
            </a:avLst>
          </a:prstGeom>
          <a:solidFill>
            <a:srgbClr val="B36A00"/>
          </a:solidFill>
          <a:ln w="12700">
            <a:solidFill>
              <a:srgbClr val="B36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3816" y="3968496"/>
            <a:ext cx="4663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03</a:t>
            </a:r>
            <a:endParaRPr lang="en-US" sz="820" dirty="0"/>
          </a:p>
        </p:txBody>
      </p:sp>
      <p:sp>
        <p:nvSpPr>
          <p:cNvPr id="17" name="Text 15"/>
          <p:cNvSpPr/>
          <p:nvPr/>
        </p:nvSpPr>
        <p:spPr>
          <a:xfrm>
            <a:off x="1463040" y="390448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OT cannot be treated like IT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95528" y="4443984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0758B"/>
                </a:solidFill>
              </a:rPr>
              <a:t>Broad discovery or uncontrolled probing can be inappropriate on a live process segment.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6217920" y="3694176"/>
            <a:ext cx="516636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904488"/>
            <a:ext cx="502920" cy="310896"/>
          </a:xfrm>
          <a:prstGeom prst="roundRect">
            <a:avLst>
              <a:gd name="adj" fmla="val 23529"/>
            </a:avLst>
          </a:prstGeom>
          <a:solidFill>
            <a:srgbClr val="E8F8FA"/>
          </a:solidFill>
          <a:ln w="12700">
            <a:solidFill>
              <a:srgbClr val="E8F8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37376" y="3968496"/>
            <a:ext cx="4663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B8D8A"/>
                </a:solidFill>
              </a:rPr>
              <a:t>04</a:t>
            </a:r>
            <a:endParaRPr lang="en-US" sz="820" dirty="0"/>
          </a:p>
        </p:txBody>
      </p:sp>
      <p:sp>
        <p:nvSpPr>
          <p:cNvPr id="22" name="Text 20"/>
          <p:cNvSpPr/>
          <p:nvPr/>
        </p:nvSpPr>
        <p:spPr>
          <a:xfrm>
            <a:off x="7086600" y="390448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The final decision is still manual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19088" y="4443984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60758B"/>
                </a:solidFill>
              </a:rPr>
              <a:t>Teams must decide what is known, what changed, what matters and what is still missing.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612648" y="5650992"/>
            <a:ext cx="10881360" cy="603504"/>
          </a:xfrm>
          <a:prstGeom prst="roundRect">
            <a:avLst>
              <a:gd name="adj" fmla="val 10606"/>
            </a:avLst>
          </a:prstGeom>
          <a:solidFill>
            <a:srgbClr val="EAF3FC"/>
          </a:solidFill>
          <a:ln w="12700">
            <a:solidFill>
              <a:srgbClr val="EAF3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760720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479D3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26" name="Text 24"/>
          <p:cNvSpPr/>
          <p:nvPr/>
        </p:nvSpPr>
        <p:spPr>
          <a:xfrm>
            <a:off x="2075688" y="5751576"/>
            <a:ext cx="9235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</a:rPr>
              <a:t>The real need is a trustworthy operating picture, not a bigger packet count.</a:t>
            </a:r>
            <a:endParaRPr lang="en-US" sz="1140" dirty="0"/>
          </a:p>
        </p:txBody>
      </p:sp>
      <p:sp>
        <p:nvSpPr>
          <p:cNvPr id="27" name="Text 25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8EA0B5"/>
                </a:solidFill>
              </a:rPr>
              <a:t>P0-WATER · bounded drinking-water / wastewater assessment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A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desired state is simple: know, explain, act.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A good assessment leaves the customer with a defensible baseline and an explicit list of what still needs work.</a:t>
            </a:r>
            <a:endParaRPr lang="en-US" sz="1120" dirty="0"/>
          </a:p>
        </p:txBody>
      </p:sp>
      <p:sp>
        <p:nvSpPr>
          <p:cNvPr id="4" name="Text 2"/>
          <p:cNvSpPr/>
          <p:nvPr/>
        </p:nvSpPr>
        <p:spPr>
          <a:xfrm>
            <a:off x="658368" y="16733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B36A00"/>
                </a:solidFill>
              </a:rPr>
              <a:t>CURRENT STATE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92240" y="16733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147D64"/>
                </a:solidFill>
              </a:rPr>
              <a:t>DESIRED STATE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58368" y="2057400"/>
            <a:ext cx="4754880" cy="658368"/>
          </a:xfrm>
          <a:prstGeom prst="roundRect">
            <a:avLst>
              <a:gd name="adj" fmla="val 11111"/>
            </a:avLst>
          </a:prstGeom>
          <a:solidFill>
            <a:srgbClr val="FFF5DD"/>
          </a:solidFill>
          <a:ln w="12700">
            <a:solidFill>
              <a:srgbClr val="E9D098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18541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033"/>
                </a:solidFill>
              </a:rPr>
              <a:t>Expected assets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68880" y="2185416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58B"/>
                </a:solidFill>
              </a:rPr>
              <a:t>Records and diagrams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58368" y="2926080"/>
            <a:ext cx="4754880" cy="658368"/>
          </a:xfrm>
          <a:prstGeom prst="roundRect">
            <a:avLst>
              <a:gd name="adj" fmla="val 11111"/>
            </a:avLst>
          </a:prstGeom>
          <a:solidFill>
            <a:srgbClr val="FFF5DD"/>
          </a:solidFill>
          <a:ln w="12700">
            <a:solidFill>
              <a:srgbClr val="E9D098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305409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033"/>
                </a:solidFill>
              </a:rPr>
              <a:t>Observed reality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468880" y="3054096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58B"/>
                </a:solidFill>
              </a:rPr>
              <a:t>Partial / ad-hoc evidence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58368" y="3794760"/>
            <a:ext cx="4754880" cy="658368"/>
          </a:xfrm>
          <a:prstGeom prst="roundRect">
            <a:avLst>
              <a:gd name="adj" fmla="val 11111"/>
            </a:avLst>
          </a:prstGeom>
          <a:solidFill>
            <a:srgbClr val="FFF5DD"/>
          </a:solidFill>
          <a:ln w="12700">
            <a:solidFill>
              <a:srgbClr val="E9D098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9227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033"/>
                </a:solidFill>
              </a:rPr>
              <a:t>Unknowns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8880" y="3922776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58B"/>
                </a:solidFill>
              </a:rPr>
              <a:t>Mixed into analyst notes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8368" y="4663440"/>
            <a:ext cx="4754880" cy="658368"/>
          </a:xfrm>
          <a:prstGeom prst="roundRect">
            <a:avLst>
              <a:gd name="adj" fmla="val 11111"/>
            </a:avLst>
          </a:prstGeom>
          <a:solidFill>
            <a:srgbClr val="FFF5DD"/>
          </a:solidFill>
          <a:ln w="12700">
            <a:solidFill>
              <a:srgbClr val="E9D098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479145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033"/>
                </a:solidFill>
              </a:rPr>
              <a:t>Next action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68880" y="4791456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58B"/>
                </a:solidFill>
              </a:rPr>
              <a:t>Depends on who is reviewing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92240" y="2057400"/>
            <a:ext cx="4983480" cy="658368"/>
          </a:xfrm>
          <a:prstGeom prst="roundRect">
            <a:avLst>
              <a:gd name="adj" fmla="val 11111"/>
            </a:avLst>
          </a:prstGeom>
          <a:solidFill>
            <a:srgbClr val="EAF7F3"/>
          </a:solidFill>
          <a:ln w="12700">
            <a:solidFill>
              <a:srgbClr val="B9E1D3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93408" y="218541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033"/>
                </a:solidFill>
              </a:rPr>
              <a:t>Evidence-backed baseline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549640" y="218541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58B"/>
                </a:solidFill>
              </a:rPr>
              <a:t>Expected ↔ observed ↔ confirmed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92240" y="2926080"/>
            <a:ext cx="4983480" cy="658368"/>
          </a:xfrm>
          <a:prstGeom prst="roundRect">
            <a:avLst>
              <a:gd name="adj" fmla="val 11111"/>
            </a:avLst>
          </a:prstGeom>
          <a:solidFill>
            <a:srgbClr val="EAF7F3"/>
          </a:solidFill>
          <a:ln w="12700">
            <a:solidFill>
              <a:srgbClr val="B9E1D3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93408" y="305409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033"/>
                </a:solidFill>
              </a:rPr>
              <a:t>Known limitations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49640" y="305409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58B"/>
                </a:solidFill>
              </a:rPr>
              <a:t>Visibility and confidence stay explicit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92240" y="3794760"/>
            <a:ext cx="4983480" cy="658368"/>
          </a:xfrm>
          <a:prstGeom prst="roundRect">
            <a:avLst>
              <a:gd name="adj" fmla="val 11111"/>
            </a:avLst>
          </a:prstGeom>
          <a:solidFill>
            <a:srgbClr val="EAF7F3"/>
          </a:solidFill>
          <a:ln w="12700">
            <a:solidFill>
              <a:srgbClr val="B9E1D3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693408" y="392277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033"/>
                </a:solidFill>
              </a:rPr>
              <a:t>Prioritized follow-up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549640" y="392277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58B"/>
                </a:solidFill>
              </a:rPr>
              <a:t>Findings tied to evidence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92240" y="4663440"/>
            <a:ext cx="4983480" cy="658368"/>
          </a:xfrm>
          <a:prstGeom prst="roundRect">
            <a:avLst>
              <a:gd name="adj" fmla="val 11111"/>
            </a:avLst>
          </a:prstGeom>
          <a:solidFill>
            <a:srgbClr val="EAF7F3"/>
          </a:solidFill>
          <a:ln w="12700">
            <a:solidFill>
              <a:srgbClr val="B9E1D3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693408" y="479145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033"/>
                </a:solidFill>
              </a:rPr>
              <a:t>Repeatable method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49640" y="4791456"/>
            <a:ext cx="2578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58B"/>
                </a:solidFill>
              </a:rPr>
              <a:t>The appliance stays available for the next case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522976" y="32918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479D3"/>
                </a:solidFill>
              </a:rPr>
              <a:t>→</a:t>
            </a:r>
            <a:endParaRPr lang="en-US" sz="3000" dirty="0"/>
          </a:p>
        </p:txBody>
      </p:sp>
      <p:sp>
        <p:nvSpPr>
          <p:cNvPr id="31" name="Shape 29"/>
          <p:cNvSpPr/>
          <p:nvPr/>
        </p:nvSpPr>
        <p:spPr>
          <a:xfrm>
            <a:off x="658368" y="5724144"/>
            <a:ext cx="10808208" cy="603504"/>
          </a:xfrm>
          <a:prstGeom prst="roundRect">
            <a:avLst>
              <a:gd name="adj" fmla="val 10606"/>
            </a:avLst>
          </a:prstGeom>
          <a:solidFill>
            <a:srgbClr val="EAF7F3"/>
          </a:solidFill>
          <a:ln w="12700">
            <a:solidFill>
              <a:srgbClr val="EAF7F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833872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47D64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33" name="Text 31"/>
          <p:cNvSpPr/>
          <p:nvPr/>
        </p:nvSpPr>
        <p:spPr>
          <a:xfrm>
            <a:off x="2121408" y="5824728"/>
            <a:ext cx="9162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</a:rPr>
              <a:t>Confidence improves because every conclusion stays connected to evidence, scope and review — and missing evidence stays visible.</a:t>
            </a:r>
            <a:endParaRPr lang="en-US" sz="1140" dirty="0"/>
          </a:p>
        </p:txBody>
      </p:sp>
      <p:sp>
        <p:nvSpPr>
          <p:cNvPr id="34" name="Text 32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8EA0B5"/>
                </a:solidFill>
              </a:rPr>
              <a:t>P0-WATER · bounded drinking-water / wastewater assessment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A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 do not need to commit before you know whether the appliance helps.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Our commercial model is intentionally low-friction: use the capability first, then decide.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841248" y="1691640"/>
            <a:ext cx="2240280" cy="4251960"/>
          </a:xfrm>
          <a:prstGeom prst="roundRect">
            <a:avLst>
              <a:gd name="adj" fmla="val 5714"/>
            </a:avLst>
          </a:prstGeom>
          <a:solidFill>
            <a:srgbClr val="1C2F3D"/>
          </a:solidFill>
          <a:ln w="15240">
            <a:solidFill>
              <a:srgbClr val="385569"/>
            </a:solidFill>
            <a:prstDash val="solid"/>
          </a:ln>
          <a:effectLst>
            <a:outerShdw sx="100000" sy="100000" kx="0" ky="0" algn="bl" rotWithShape="0" blurRad="25400" dist="50800" dir="2700000">
              <a:srgbClr val="60758B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1892808"/>
            <a:ext cx="1911096" cy="3749040"/>
          </a:xfrm>
          <a:prstGeom prst="roundRect">
            <a:avLst>
              <a:gd name="adj" fmla="val 3828"/>
            </a:avLst>
          </a:prstGeom>
          <a:solidFill>
            <a:srgbClr val="F5F8FB"/>
          </a:solidFill>
          <a:ln w="8890">
            <a:solidFill>
              <a:srgbClr val="6E879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892808"/>
            <a:ext cx="1911096" cy="201168"/>
          </a:xfrm>
          <a:prstGeom prst="rect">
            <a:avLst/>
          </a:prstGeom>
          <a:solidFill>
            <a:srgbClr val="0A2033"/>
          </a:solidFill>
          <a:ln w="12700">
            <a:solidFill>
              <a:srgbClr val="0A20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61288" y="1956816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90" kern="0" dirty="0">
                <a:solidFill>
                  <a:srgbClr val="FFFFFF"/>
                </a:solidFill>
              </a:rPr>
              <a:t>ATLAS OT SCOUT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225296" y="2651760"/>
            <a:ext cx="1472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OFFLINE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ASSESSMENT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APPLIANCE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906524" y="5742432"/>
            <a:ext cx="109728" cy="109728"/>
          </a:xfrm>
          <a:prstGeom prst="ellipse">
            <a:avLst/>
          </a:prstGeom>
          <a:solidFill>
            <a:srgbClr val="7D93A4"/>
          </a:solidFill>
          <a:ln w="12700">
            <a:solidFill>
              <a:srgbClr val="7D93A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20440" y="1755648"/>
            <a:ext cx="349300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21608" y="1975104"/>
            <a:ext cx="438912" cy="438912"/>
          </a:xfrm>
          <a:prstGeom prst="ellipse">
            <a:avLst/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21608" y="2075688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25112" y="1975104"/>
            <a:ext cx="2148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033"/>
                </a:solidFill>
              </a:rPr>
              <a:t>We deliver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721608" y="2551176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58B"/>
                </a:solidFill>
              </a:rPr>
              <a:t>A configured Atlas appliance for the agreed pilot scope.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406640" y="1755648"/>
            <a:ext cx="349300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607808" y="1975104"/>
            <a:ext cx="438912" cy="438912"/>
          </a:xfrm>
          <a:prstGeom prst="ellipse">
            <a:avLst/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07808" y="2075688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11312" y="1975104"/>
            <a:ext cx="2148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033"/>
                </a:solidFill>
              </a:rPr>
              <a:t>You use it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607808" y="2551176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58B"/>
                </a:solidFill>
              </a:rPr>
              <a:t>We guide the first bounded assessment, then leave the device with your team.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520440" y="3721608"/>
            <a:ext cx="349300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21608" y="3941064"/>
            <a:ext cx="438912" cy="438912"/>
          </a:xfrm>
          <a:prstGeom prst="ellipse">
            <a:avLst/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21608" y="4041648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325112" y="3941064"/>
            <a:ext cx="2148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033"/>
                </a:solidFill>
              </a:rPr>
              <a:t>You decide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721608" y="4517136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58B"/>
                </a:solidFill>
              </a:rPr>
              <a:t>Like the capability? Acquire it. Not useful? We pick it up.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406640" y="3721608"/>
            <a:ext cx="349300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607808" y="3941064"/>
            <a:ext cx="438912" cy="438912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07808" y="4041648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11312" y="3941064"/>
            <a:ext cx="2148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033"/>
                </a:solidFill>
              </a:rPr>
              <a:t>We support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7607808" y="4517136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0758B"/>
                </a:solidFill>
              </a:rPr>
              <a:t>Add consulting, onboarding, review or support packages only when needed.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529584" y="5733288"/>
            <a:ext cx="7699248" cy="603504"/>
          </a:xfrm>
          <a:prstGeom prst="roundRect">
            <a:avLst>
              <a:gd name="adj" fmla="val 10606"/>
            </a:avLst>
          </a:prstGeom>
          <a:solidFill>
            <a:srgbClr val="EAF3FC"/>
          </a:solidFill>
          <a:ln w="12700">
            <a:solidFill>
              <a:srgbClr val="EAF3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94176" y="5843016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479D3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32" name="Text 30"/>
          <p:cNvSpPr/>
          <p:nvPr/>
        </p:nvSpPr>
        <p:spPr>
          <a:xfrm>
            <a:off x="4992624" y="5833872"/>
            <a:ext cx="6053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</a:rPr>
              <a:t>The customer learns the value on its own network before making a purchase decision.</a:t>
            </a:r>
            <a:endParaRPr lang="en-US" sz="1140" dirty="0"/>
          </a:p>
        </p:txBody>
      </p:sp>
      <p:sp>
        <p:nvSpPr>
          <p:cNvPr id="33" name="Text 31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8EA0B5"/>
                </a:solidFill>
              </a:rPr>
              <a:t>Commercial model · free pilot → acquire or return → optional consulting/support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A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Atlas guides the customer from uncertainty to a defensible decision.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The application is organized around the decisions the operator must make — not around a list of scanning features.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2057400" cy="2944368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67512" y="2212848"/>
            <a:ext cx="457200" cy="457200"/>
          </a:xfrm>
          <a:prstGeom prst="ellipse">
            <a:avLst/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" y="232257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7512" y="288950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A2033"/>
                </a:solidFill>
              </a:rPr>
              <a:t>Scope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667512" y="3401568"/>
            <a:ext cx="1664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60758B"/>
                </a:solidFill>
              </a:rPr>
              <a:t>What exact site, process area and decision are we supporting?</a:t>
            </a:r>
            <a:endParaRPr lang="en-US" sz="990" dirty="0"/>
          </a:p>
        </p:txBody>
      </p:sp>
      <p:sp>
        <p:nvSpPr>
          <p:cNvPr id="9" name="Text 7"/>
          <p:cNvSpPr/>
          <p:nvPr/>
        </p:nvSpPr>
        <p:spPr>
          <a:xfrm>
            <a:off x="2587752" y="3246120"/>
            <a:ext cx="210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EA0B5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816352" y="1965960"/>
            <a:ext cx="2057400" cy="2944368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980944" y="2212848"/>
            <a:ext cx="457200" cy="457200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80944" y="232257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288950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A2033"/>
                </a:solidFill>
              </a:rPr>
              <a:t>Collect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2980944" y="3401568"/>
            <a:ext cx="1664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60758B"/>
                </a:solidFill>
              </a:rPr>
              <a:t>What is the least intrusive evidence that can close the gap?</a:t>
            </a:r>
            <a:endParaRPr lang="en-US" sz="990" dirty="0"/>
          </a:p>
        </p:txBody>
      </p:sp>
      <p:sp>
        <p:nvSpPr>
          <p:cNvPr id="15" name="Text 13"/>
          <p:cNvSpPr/>
          <p:nvPr/>
        </p:nvSpPr>
        <p:spPr>
          <a:xfrm>
            <a:off x="4901184" y="3246120"/>
            <a:ext cx="210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EA0B5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129784" y="1965960"/>
            <a:ext cx="2057400" cy="2944368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94376" y="2212848"/>
            <a:ext cx="457200" cy="457200"/>
          </a:xfrm>
          <a:prstGeom prst="ellipse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94376" y="232257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294376" y="288950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A2033"/>
                </a:solidFill>
              </a:rPr>
              <a:t>Review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5294376" y="3401568"/>
            <a:ext cx="1664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60758B"/>
                </a:solidFill>
              </a:rPr>
              <a:t>Which observations are strong enough to accept?</a:t>
            </a:r>
            <a:endParaRPr lang="en-US" sz="990" dirty="0"/>
          </a:p>
        </p:txBody>
      </p:sp>
      <p:sp>
        <p:nvSpPr>
          <p:cNvPr id="21" name="Text 19"/>
          <p:cNvSpPr/>
          <p:nvPr/>
        </p:nvSpPr>
        <p:spPr>
          <a:xfrm>
            <a:off x="7214616" y="3246120"/>
            <a:ext cx="210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EA0B5"/>
                </a:solidFill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443216" y="1965960"/>
            <a:ext cx="2057400" cy="2944368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607808" y="2212848"/>
            <a:ext cx="457200" cy="457200"/>
          </a:xfrm>
          <a:prstGeom prst="ellipse">
            <a:avLst/>
          </a:prstGeom>
          <a:solidFill>
            <a:srgbClr val="B36A00"/>
          </a:solidFill>
          <a:ln w="12700">
            <a:solidFill>
              <a:srgbClr val="B36A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07808" y="232257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607808" y="288950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A2033"/>
                </a:solidFill>
              </a:rPr>
              <a:t>Reason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7607808" y="3401568"/>
            <a:ext cx="1664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60758B"/>
                </a:solidFill>
              </a:rPr>
              <a:t>What changed, what conflicts and what needs follow-up?</a:t>
            </a:r>
            <a:endParaRPr lang="en-US" sz="990" dirty="0"/>
          </a:p>
        </p:txBody>
      </p:sp>
      <p:sp>
        <p:nvSpPr>
          <p:cNvPr id="27" name="Text 25"/>
          <p:cNvSpPr/>
          <p:nvPr/>
        </p:nvSpPr>
        <p:spPr>
          <a:xfrm>
            <a:off x="9528048" y="3246120"/>
            <a:ext cx="210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EA0B5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756648" y="1965960"/>
            <a:ext cx="2057400" cy="2944368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B8E0D3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921240" y="2212848"/>
            <a:ext cx="457200" cy="457200"/>
          </a:xfrm>
          <a:prstGeom prst="ellipse">
            <a:avLst/>
          </a:prstGeom>
          <a:solidFill>
            <a:srgbClr val="147D64"/>
          </a:solidFill>
          <a:ln w="12700">
            <a:solidFill>
              <a:srgbClr val="147D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21240" y="2322576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921240" y="288950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A2033"/>
                </a:solidFill>
              </a:rPr>
              <a:t>Handoff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9921240" y="3401568"/>
            <a:ext cx="1664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60758B"/>
                </a:solidFill>
              </a:rPr>
              <a:t>What is ready to sign off — and what is still blocked?</a:t>
            </a:r>
            <a:endParaRPr lang="en-US" sz="990" dirty="0"/>
          </a:p>
        </p:txBody>
      </p:sp>
      <p:sp>
        <p:nvSpPr>
          <p:cNvPr id="33" name="Shape 31"/>
          <p:cNvSpPr/>
          <p:nvPr/>
        </p:nvSpPr>
        <p:spPr>
          <a:xfrm>
            <a:off x="1051560" y="5413248"/>
            <a:ext cx="10058400" cy="603504"/>
          </a:xfrm>
          <a:prstGeom prst="roundRect">
            <a:avLst>
              <a:gd name="adj" fmla="val 10606"/>
            </a:avLst>
          </a:prstGeom>
          <a:solidFill>
            <a:srgbClr val="EAF7F3"/>
          </a:solidFill>
          <a:ln w="12700">
            <a:solidFill>
              <a:srgbClr val="EAF7F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216152" y="5522976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47D64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35" name="Text 33"/>
          <p:cNvSpPr/>
          <p:nvPr/>
        </p:nvSpPr>
        <p:spPr>
          <a:xfrm>
            <a:off x="2514600" y="5513832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</a:rPr>
              <a:t>The workflow tells the operator what to do next and why — while preserving scope, safety and analyst judgment.</a:t>
            </a:r>
            <a:endParaRPr lang="en-US" sz="1140" dirty="0"/>
          </a:p>
        </p:txBody>
      </p:sp>
      <p:sp>
        <p:nvSpPr>
          <p:cNvPr id="36" name="Text 34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8EA0B5"/>
                </a:solidFill>
              </a:rPr>
              <a:t>P0-WATER · bounded drinking-water / wastewater assessment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A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story: North Water Treatment Plant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The site has an expected inventory but one unresolved identity. The goal is to establish a current, defensible picture without broad discovery.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7635240" cy="4343400"/>
          </a:xfrm>
          <a:prstGeom prst="roundRect">
            <a:avLst>
              <a:gd name="adj" fmla="val 1684"/>
            </a:avLst>
          </a:prstGeom>
          <a:solidFill>
            <a:srgbClr val="0A2033"/>
          </a:solidFill>
          <a:ln w="12700">
            <a:solidFill>
              <a:srgbClr val="244E69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58368" y="1737360"/>
            <a:ext cx="7452360" cy="41879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522208" y="1691640"/>
            <a:ext cx="3063240" cy="425196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759952" y="1938528"/>
            <a:ext cx="1051560" cy="310896"/>
          </a:xfrm>
          <a:prstGeom prst="roundRect">
            <a:avLst>
              <a:gd name="adj" fmla="val 23529"/>
            </a:avLst>
          </a:prstGeom>
          <a:solidFill>
            <a:srgbClr val="E8F8FA"/>
          </a:solidFill>
          <a:ln w="12700">
            <a:solidFill>
              <a:srgbClr val="E8F8F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778240" y="2002536"/>
            <a:ext cx="10149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B8D8A"/>
                </a:solidFill>
              </a:rPr>
              <a:t>THE QUESTION</a:t>
            </a:r>
            <a:endParaRPr lang="en-US" sz="820" dirty="0"/>
          </a:p>
        </p:txBody>
      </p:sp>
      <p:sp>
        <p:nvSpPr>
          <p:cNvPr id="9" name="Text 6"/>
          <p:cNvSpPr/>
          <p:nvPr/>
        </p:nvSpPr>
        <p:spPr>
          <a:xfrm>
            <a:off x="8759952" y="2542032"/>
            <a:ext cx="25420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A2033"/>
                </a:solidFill>
              </a:rPr>
              <a:t>“Can we prove what is actually on this segment — and what still needs attention — without turning the assessment into a broad scan?”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759952" y="4224528"/>
            <a:ext cx="82296" cy="82296"/>
          </a:xfrm>
          <a:prstGeom prst="ellipse">
            <a:avLst/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24544" y="4151376"/>
            <a:ext cx="225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102A43"/>
                </a:solidFill>
              </a:rPr>
              <a:t>Watch the same problem move through scope, passive evidence, review, one bounded identity check and report readiness.</a:t>
            </a:r>
            <a:endParaRPr lang="en-US" sz="1010" dirty="0"/>
          </a:p>
        </p:txBody>
      </p:sp>
      <p:sp>
        <p:nvSpPr>
          <p:cNvPr id="12" name="Text 9"/>
          <p:cNvSpPr/>
          <p:nvPr/>
        </p:nvSpPr>
        <p:spPr>
          <a:xfrm>
            <a:off x="8759952" y="5321808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0758B"/>
                </a:solidFill>
              </a:rPr>
              <a:t>Video is embedded in the PowerPoint.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8EA0B5"/>
                </a:solidFill>
              </a:rPr>
              <a:t>Actual Android emulator user story · explanatory overlays added for the prospect narrative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A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1 — start passive and make the safest useful observation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Atlas guides the operator to the least intrusive evidence source before any active behavior is considered.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612648" y="1581912"/>
            <a:ext cx="2033626" cy="4407408"/>
          </a:xfrm>
          <a:prstGeom prst="roundRect">
            <a:avLst>
              <a:gd name="adj" fmla="val 3597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pic>
        <p:nvPicPr>
          <p:cNvPr id="5" name="Image 0" descr="/home/runner/work/mobile-ot-security-assessment/mobile-ot-security-assessment/build/live-demo/deck-frames/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27632"/>
            <a:ext cx="1942186" cy="43159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93776" y="6035040"/>
            <a:ext cx="22713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0758B"/>
                </a:solidFill>
              </a:rPr>
              <a:t>Choose the method</a:t>
            </a:r>
            <a:endParaRPr lang="en-US" sz="770" dirty="0"/>
          </a:p>
        </p:txBody>
      </p:sp>
      <p:sp>
        <p:nvSpPr>
          <p:cNvPr id="7" name="Shape 4"/>
          <p:cNvSpPr/>
          <p:nvPr/>
        </p:nvSpPr>
        <p:spPr>
          <a:xfrm>
            <a:off x="3108960" y="1581912"/>
            <a:ext cx="2033626" cy="4407408"/>
          </a:xfrm>
          <a:prstGeom prst="roundRect">
            <a:avLst>
              <a:gd name="adj" fmla="val 3597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pic>
        <p:nvPicPr>
          <p:cNvPr id="8" name="Image 1" descr="/home/runner/work/mobile-ot-security-assessment/mobile-ot-security-assessment/build/live-demo/deck-frames/f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627632"/>
            <a:ext cx="1942186" cy="431596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990088" y="6035040"/>
            <a:ext cx="22713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0758B"/>
                </a:solidFill>
              </a:rPr>
              <a:t>Verify receive-only capture</a:t>
            </a:r>
            <a:endParaRPr lang="en-US" sz="770" dirty="0"/>
          </a:p>
        </p:txBody>
      </p:sp>
      <p:sp>
        <p:nvSpPr>
          <p:cNvPr id="10" name="Shape 6"/>
          <p:cNvSpPr/>
          <p:nvPr/>
        </p:nvSpPr>
        <p:spPr>
          <a:xfrm>
            <a:off x="5989320" y="1737360"/>
            <a:ext cx="5486400" cy="4242816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91072" y="1984248"/>
            <a:ext cx="1325880" cy="310896"/>
          </a:xfrm>
          <a:prstGeom prst="roundRect">
            <a:avLst>
              <a:gd name="adj" fmla="val 23529"/>
            </a:avLst>
          </a:prstGeom>
          <a:solidFill>
            <a:srgbClr val="FFF5DD"/>
          </a:solidFill>
          <a:ln w="12700">
            <a:solidFill>
              <a:srgbClr val="FFF5DD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09360" y="2048256"/>
            <a:ext cx="1289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B36A00"/>
                </a:solidFill>
              </a:rPr>
              <a:t>CUSTOMER PROBLEM</a:t>
            </a:r>
            <a:endParaRPr lang="en-US" sz="820" dirty="0"/>
          </a:p>
        </p:txBody>
      </p:sp>
      <p:sp>
        <p:nvSpPr>
          <p:cNvPr id="13" name="Text 9"/>
          <p:cNvSpPr/>
          <p:nvPr/>
        </p:nvSpPr>
        <p:spPr>
          <a:xfrm>
            <a:off x="6291072" y="2542032"/>
            <a:ext cx="4663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“I need a current communication picture, but I do not want a broad scan touching the process.”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6309360" y="3666744"/>
            <a:ext cx="82296" cy="82296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59359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The app explains which method answers which question.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309360" y="4233672"/>
            <a:ext cx="82296" cy="82296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73952" y="4160520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SPAN / TAP is presented as the passive-first path.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309360" y="4800600"/>
            <a:ext cx="82296" cy="82296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473952" y="472744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The appliance verifies the dedicated capture boundary before starting.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291072" y="5422392"/>
            <a:ext cx="4645152" cy="603504"/>
          </a:xfrm>
          <a:prstGeom prst="roundRect">
            <a:avLst>
              <a:gd name="adj" fmla="val 10606"/>
            </a:avLst>
          </a:prstGeom>
          <a:solidFill>
            <a:srgbClr val="EAF7F3"/>
          </a:solidFill>
          <a:ln w="12700">
            <a:solidFill>
              <a:srgbClr val="EAF7F3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55664" y="5532120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47D64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22" name="Text 18"/>
          <p:cNvSpPr/>
          <p:nvPr/>
        </p:nvSpPr>
        <p:spPr>
          <a:xfrm>
            <a:off x="7754112" y="5522976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</a:rPr>
              <a:t>The customer gets useful visibility without making broad discovery the default.</a:t>
            </a:r>
            <a:endParaRPr lang="en-US" sz="1140" dirty="0"/>
          </a:p>
        </p:txBody>
      </p:sp>
      <p:sp>
        <p:nvSpPr>
          <p:cNvPr id="23" name="Text 19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8EA0B5"/>
                </a:solidFill>
              </a:rPr>
              <a:t>P0-WATER · bounded drinking-water / wastewater assessment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A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2 — evidence is reviewed before it changes the inventory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The product separates “what was observed” from “what the customer is ready to accept as true.”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713232" y="1545336"/>
            <a:ext cx="2157070" cy="4681728"/>
          </a:xfrm>
          <a:prstGeom prst="roundRect">
            <a:avLst>
              <a:gd name="adj" fmla="val 3391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pic>
        <p:nvPicPr>
          <p:cNvPr id="5" name="Image 0" descr="/home/runner/work/mobile-ot-security-assessment/mobile-ot-security-assessment/build/live-demo/deck-frames/f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591056"/>
            <a:ext cx="2065630" cy="45902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6272784"/>
            <a:ext cx="23948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0758B"/>
                </a:solidFill>
              </a:rPr>
              <a:t>Passive evidence review</a:t>
            </a:r>
            <a:endParaRPr lang="en-US" sz="770" dirty="0"/>
          </a:p>
        </p:txBody>
      </p:sp>
      <p:sp>
        <p:nvSpPr>
          <p:cNvPr id="7" name="Shape 4"/>
          <p:cNvSpPr/>
          <p:nvPr/>
        </p:nvSpPr>
        <p:spPr>
          <a:xfrm>
            <a:off x="3822192" y="1719072"/>
            <a:ext cx="758952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133088" y="1965960"/>
            <a:ext cx="1051560" cy="310896"/>
          </a:xfrm>
          <a:prstGeom prst="roundRect">
            <a:avLst>
              <a:gd name="adj" fmla="val 23529"/>
            </a:avLst>
          </a:prstGeom>
          <a:solidFill>
            <a:srgbClr val="E8F8FA"/>
          </a:solidFill>
          <a:ln w="12700">
            <a:solidFill>
              <a:srgbClr val="E8F8F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151376" y="2029968"/>
            <a:ext cx="10149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B8D8A"/>
                </a:solidFill>
              </a:rPr>
              <a:t>GUIDED REVIEW</a:t>
            </a:r>
            <a:endParaRPr lang="en-US" sz="820" dirty="0"/>
          </a:p>
        </p:txBody>
      </p:sp>
      <p:sp>
        <p:nvSpPr>
          <p:cNvPr id="10" name="Text 7"/>
          <p:cNvSpPr/>
          <p:nvPr/>
        </p:nvSpPr>
        <p:spPr>
          <a:xfrm>
            <a:off x="4133088" y="2496312"/>
            <a:ext cx="6537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The capture produced four observed assets. Atlas does not silently turn them into inventory records.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160520" y="3273552"/>
            <a:ext cx="292608" cy="292608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160520" y="3319272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90288" y="32461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A2033"/>
                </a:solidFill>
              </a:rPr>
              <a:t>Evidence stays attributable</a:t>
            </a:r>
            <a:endParaRPr lang="en-US" sz="1120" dirty="0"/>
          </a:p>
        </p:txBody>
      </p:sp>
      <p:sp>
        <p:nvSpPr>
          <p:cNvPr id="14" name="Text 11"/>
          <p:cNvSpPr/>
          <p:nvPr/>
        </p:nvSpPr>
        <p:spPr>
          <a:xfrm>
            <a:off x="6419088" y="3246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60758B"/>
                </a:solidFill>
              </a:rPr>
              <a:t>Hash, capture window, packet counts and method remain visible.</a:t>
            </a:r>
            <a:endParaRPr lang="en-US" sz="1040" dirty="0"/>
          </a:p>
        </p:txBody>
      </p:sp>
      <p:sp>
        <p:nvSpPr>
          <p:cNvPr id="15" name="Shape 12"/>
          <p:cNvSpPr/>
          <p:nvPr/>
        </p:nvSpPr>
        <p:spPr>
          <a:xfrm>
            <a:off x="4160520" y="3959352"/>
            <a:ext cx="292608" cy="292608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60520" y="4005072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90288" y="39319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A2033"/>
                </a:solidFill>
              </a:rPr>
              <a:t>Confidence stays visible</a:t>
            </a:r>
            <a:endParaRPr lang="en-US" sz="1120" dirty="0"/>
          </a:p>
        </p:txBody>
      </p:sp>
      <p:sp>
        <p:nvSpPr>
          <p:cNvPr id="18" name="Text 15"/>
          <p:cNvSpPr/>
          <p:nvPr/>
        </p:nvSpPr>
        <p:spPr>
          <a:xfrm>
            <a:off x="6419088" y="39319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60758B"/>
                </a:solidFill>
              </a:rPr>
              <a:t>Role / identity inference is shown as evidence, not certainty.</a:t>
            </a:r>
            <a:endParaRPr lang="en-US" sz="1040" dirty="0"/>
          </a:p>
        </p:txBody>
      </p:sp>
      <p:sp>
        <p:nvSpPr>
          <p:cNvPr id="19" name="Shape 16"/>
          <p:cNvSpPr/>
          <p:nvPr/>
        </p:nvSpPr>
        <p:spPr>
          <a:xfrm>
            <a:off x="4160520" y="4645152"/>
            <a:ext cx="292608" cy="292608"/>
          </a:xfrm>
          <a:prstGeom prst="ellipse">
            <a:avLst/>
          </a:prstGeom>
          <a:solidFill>
            <a:srgbClr val="0B8D8A"/>
          </a:solidFill>
          <a:ln w="12700">
            <a:solidFill>
              <a:srgbClr val="0B8D8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160520" y="4690872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✓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90288" y="46177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A2033"/>
                </a:solidFill>
              </a:rPr>
              <a:t>The analyst decides</a:t>
            </a:r>
            <a:endParaRPr lang="en-US" sz="1120" dirty="0"/>
          </a:p>
        </p:txBody>
      </p:sp>
      <p:sp>
        <p:nvSpPr>
          <p:cNvPr id="22" name="Text 19"/>
          <p:cNvSpPr/>
          <p:nvPr/>
        </p:nvSpPr>
        <p:spPr>
          <a:xfrm>
            <a:off x="6419088" y="46177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60758B"/>
                </a:solidFill>
              </a:rPr>
              <a:t>Only explicitly accepted observations can enter the reviewed inventory.</a:t>
            </a:r>
            <a:endParaRPr lang="en-US" sz="1040" dirty="0"/>
          </a:p>
        </p:txBody>
      </p:sp>
      <p:sp>
        <p:nvSpPr>
          <p:cNvPr id="23" name="Shape 20"/>
          <p:cNvSpPr/>
          <p:nvPr/>
        </p:nvSpPr>
        <p:spPr>
          <a:xfrm>
            <a:off x="4133088" y="5449824"/>
            <a:ext cx="6812280" cy="603504"/>
          </a:xfrm>
          <a:prstGeom prst="roundRect">
            <a:avLst>
              <a:gd name="adj" fmla="val 10606"/>
            </a:avLst>
          </a:prstGeom>
          <a:solidFill>
            <a:srgbClr val="EAF7F3"/>
          </a:solidFill>
          <a:ln w="12700">
            <a:solidFill>
              <a:srgbClr val="EAF7F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297680" y="5559552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47D64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25" name="Text 22"/>
          <p:cNvSpPr/>
          <p:nvPr/>
        </p:nvSpPr>
        <p:spPr>
          <a:xfrm>
            <a:off x="5596128" y="555040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</a:rPr>
              <a:t>The customer reduces false assumptions because observations cannot silently become “truth.”</a:t>
            </a:r>
            <a:endParaRPr lang="en-US" sz="1140" dirty="0"/>
          </a:p>
        </p:txBody>
      </p:sp>
      <p:sp>
        <p:nvSpPr>
          <p:cNvPr id="26" name="Text 23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8EA0B5"/>
                </a:solidFill>
              </a:rPr>
              <a:t>P0-WATER · bounded drinking-water / wastewater assessment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A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3 — reconcile what was expected with what was actually observed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The customer is guided to the delta that matters: confirmed, missing, unexpected or conflicting identities.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667512" y="1527048"/>
            <a:ext cx="2128266" cy="4617720"/>
          </a:xfrm>
          <a:prstGeom prst="roundRect">
            <a:avLst>
              <a:gd name="adj" fmla="val 3437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pic>
        <p:nvPicPr>
          <p:cNvPr id="5" name="Image 0" descr="/home/runner/work/mobile-ot-security-assessment/mobile-ot-security-assessment/build/live-demo/deck-frames/f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72768"/>
            <a:ext cx="2036826" cy="4526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90488"/>
            <a:ext cx="23660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0758B"/>
                </a:solidFill>
              </a:rPr>
              <a:t>Reviewed inventory</a:t>
            </a:r>
            <a:endParaRPr lang="en-US" sz="770" dirty="0"/>
          </a:p>
        </p:txBody>
      </p:sp>
      <p:sp>
        <p:nvSpPr>
          <p:cNvPr id="7" name="Shape 4"/>
          <p:cNvSpPr/>
          <p:nvPr/>
        </p:nvSpPr>
        <p:spPr>
          <a:xfrm>
            <a:off x="3282696" y="1527048"/>
            <a:ext cx="2128266" cy="4617720"/>
          </a:xfrm>
          <a:prstGeom prst="roundRect">
            <a:avLst>
              <a:gd name="adj" fmla="val 3437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pic>
        <p:nvPicPr>
          <p:cNvPr id="8" name="Image 1" descr="/home/runner/work/mobile-ot-security-assessment/mobile-ot-security-assessment/build/live-demo/deck-frames/f2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572768"/>
            <a:ext cx="2036826" cy="45262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163824" y="6190488"/>
            <a:ext cx="23660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0758B"/>
                </a:solidFill>
              </a:rPr>
              <a:t>Unresolved identity becomes work</a:t>
            </a:r>
            <a:endParaRPr lang="en-US" sz="770" dirty="0"/>
          </a:p>
        </p:txBody>
      </p:sp>
      <p:sp>
        <p:nvSpPr>
          <p:cNvPr id="10" name="Shape 6"/>
          <p:cNvSpPr/>
          <p:nvPr/>
        </p:nvSpPr>
        <p:spPr>
          <a:xfrm>
            <a:off x="6144768" y="1755648"/>
            <a:ext cx="5330952" cy="4224528"/>
          </a:xfrm>
          <a:prstGeom prst="roundRect">
            <a:avLst>
              <a:gd name="adj" fmla="val 1732"/>
            </a:avLst>
          </a:prstGeom>
          <a:solidFill>
            <a:srgbClr val="EAF3FC"/>
          </a:solidFill>
          <a:ln w="12700">
            <a:solidFill>
              <a:srgbClr val="BDD8EF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28232" y="1984248"/>
            <a:ext cx="1481328" cy="310896"/>
          </a:xfrm>
          <a:prstGeom prst="roundRect">
            <a:avLst>
              <a:gd name="adj" fmla="val 23529"/>
            </a:avLst>
          </a:prstGeom>
          <a:solidFill>
            <a:srgbClr val="DCEEFF"/>
          </a:solidFill>
          <a:ln w="12700">
            <a:solidFill>
              <a:srgbClr val="DCEEF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46520" y="2048256"/>
            <a:ext cx="14447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479D3"/>
                </a:solidFill>
              </a:rPr>
              <a:t>FROM DATA TO DECISION</a:t>
            </a:r>
            <a:endParaRPr lang="en-US" sz="820" dirty="0"/>
          </a:p>
        </p:txBody>
      </p:sp>
      <p:sp>
        <p:nvSpPr>
          <p:cNvPr id="13" name="Text 9"/>
          <p:cNvSpPr/>
          <p:nvPr/>
        </p:nvSpPr>
        <p:spPr>
          <a:xfrm>
            <a:off x="6428232" y="2578608"/>
            <a:ext cx="4526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A2033"/>
                </a:solidFill>
              </a:rPr>
              <a:t>Atlas is not trying to maximize the number of discovered devices.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6446520" y="3474720"/>
            <a:ext cx="82296" cy="82296"/>
          </a:xfrm>
          <a:prstGeom prst="ellipse">
            <a:avLst/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611112" y="3401568"/>
            <a:ext cx="4270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Known records stay visible alongside new evidence.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446520" y="4059936"/>
            <a:ext cx="82296" cy="82296"/>
          </a:xfrm>
          <a:prstGeom prst="ellipse">
            <a:avLst/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1112" y="3986784"/>
            <a:ext cx="4270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Unresolved identities stay visible instead of being guessed.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446520" y="4645152"/>
            <a:ext cx="82296" cy="82296"/>
          </a:xfrm>
          <a:prstGeom prst="ellipse">
            <a:avLst/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611112" y="4572000"/>
            <a:ext cx="4270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02A43"/>
                </a:solidFill>
              </a:rPr>
              <a:t>The next recommended action is tied to the remaining uncertainty.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428232" y="5303520"/>
            <a:ext cx="4498848" cy="603504"/>
          </a:xfrm>
          <a:prstGeom prst="roundRect">
            <a:avLst>
              <a:gd name="adj" fmla="val 10606"/>
            </a:avLst>
          </a:prstGeom>
          <a:solidFill>
            <a:srgbClr val="EAF7F3"/>
          </a:solidFill>
          <a:ln w="12700">
            <a:solidFill>
              <a:srgbClr val="EAF7F3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592824" y="5413248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47D64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22" name="Text 18"/>
          <p:cNvSpPr/>
          <p:nvPr/>
        </p:nvSpPr>
        <p:spPr>
          <a:xfrm>
            <a:off x="7891272" y="5404104"/>
            <a:ext cx="2852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</a:rPr>
              <a:t>The result is a current baseline the customer can explain to operations, security and management.</a:t>
            </a:r>
            <a:endParaRPr lang="en-US" sz="1140" dirty="0"/>
          </a:p>
        </p:txBody>
      </p:sp>
      <p:sp>
        <p:nvSpPr>
          <p:cNvPr id="23" name="Text 19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8EA0B5"/>
                </a:solidFill>
              </a:rPr>
              <a:t>P0-WATER · bounded drinking-water / wastewater assessment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A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4 — close one remaining gap without widening the scope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Active behavior is optional and exact. The workflow shows why the request is needed, what target is authorized and what is prohibited.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576072" y="1545336"/>
            <a:ext cx="2115922" cy="4590288"/>
          </a:xfrm>
          <a:prstGeom prst="roundRect">
            <a:avLst>
              <a:gd name="adj" fmla="val 3457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pic>
        <p:nvPicPr>
          <p:cNvPr id="5" name="Image 0" descr="/home/runner/work/mobile-ot-security-assessment/mobile-ot-security-assessment/build/live-demo/deck-frames/f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591056"/>
            <a:ext cx="2024482" cy="44988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181344"/>
            <a:ext cx="235366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0758B"/>
                </a:solidFill>
              </a:rPr>
              <a:t>Exact work order and target</a:t>
            </a:r>
            <a:endParaRPr lang="en-US" sz="770" dirty="0"/>
          </a:p>
        </p:txBody>
      </p:sp>
      <p:sp>
        <p:nvSpPr>
          <p:cNvPr id="7" name="Shape 4"/>
          <p:cNvSpPr/>
          <p:nvPr/>
        </p:nvSpPr>
        <p:spPr>
          <a:xfrm>
            <a:off x="3108960" y="1545336"/>
            <a:ext cx="2115922" cy="4590288"/>
          </a:xfrm>
          <a:prstGeom prst="roundRect">
            <a:avLst>
              <a:gd name="adj" fmla="val 3457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pic>
        <p:nvPicPr>
          <p:cNvPr id="8" name="Image 1" descr="/home/runner/work/mobile-ot-security-assessment/mobile-ot-security-assessment/build/live-demo/deck-frames/f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591056"/>
            <a:ext cx="2024482" cy="44988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990088" y="6181344"/>
            <a:ext cx="235366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0758B"/>
                </a:solidFill>
              </a:rPr>
              <a:t>Out-of-scope target blocked</a:t>
            </a:r>
            <a:endParaRPr lang="en-US" sz="770" dirty="0"/>
          </a:p>
        </p:txBody>
      </p:sp>
      <p:sp>
        <p:nvSpPr>
          <p:cNvPr id="10" name="Shape 6"/>
          <p:cNvSpPr/>
          <p:nvPr/>
        </p:nvSpPr>
        <p:spPr>
          <a:xfrm>
            <a:off x="5641848" y="1545336"/>
            <a:ext cx="2115922" cy="4590288"/>
          </a:xfrm>
          <a:prstGeom prst="roundRect">
            <a:avLst>
              <a:gd name="adj" fmla="val 3457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pic>
        <p:nvPicPr>
          <p:cNvPr id="11" name="Image 2" descr="/home/runner/work/mobile-ot-security-assessment/mobile-ot-security-assessment/build/live-demo/deck-frames/f2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1591056"/>
            <a:ext cx="2024482" cy="449884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522976" y="6181344"/>
            <a:ext cx="235366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0758B"/>
                </a:solidFill>
              </a:rPr>
              <a:t>One controller identified</a:t>
            </a:r>
            <a:endParaRPr lang="en-US" sz="770" dirty="0"/>
          </a:p>
        </p:txBody>
      </p:sp>
      <p:sp>
        <p:nvSpPr>
          <p:cNvPr id="13" name="Shape 8"/>
          <p:cNvSpPr/>
          <p:nvPr/>
        </p:nvSpPr>
        <p:spPr>
          <a:xfrm>
            <a:off x="8394192" y="1792224"/>
            <a:ext cx="3090672" cy="4169664"/>
          </a:xfrm>
          <a:prstGeom prst="roundRect">
            <a:avLst>
              <a:gd name="adj" fmla="val 2367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8650224" y="2029968"/>
            <a:ext cx="1325880" cy="310896"/>
          </a:xfrm>
          <a:prstGeom prst="roundRect">
            <a:avLst>
              <a:gd name="adj" fmla="val 23529"/>
            </a:avLst>
          </a:prstGeom>
          <a:solidFill>
            <a:srgbClr val="FCECEC"/>
          </a:solidFill>
          <a:ln w="12700">
            <a:solidFill>
              <a:srgbClr val="FCECEC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668512" y="2093976"/>
            <a:ext cx="12893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BE3D3D"/>
                </a:solidFill>
              </a:rPr>
              <a:t>SAFETY AS A BENEFIT</a:t>
            </a:r>
            <a:endParaRPr lang="en-US" sz="820" dirty="0"/>
          </a:p>
        </p:txBody>
      </p:sp>
      <p:sp>
        <p:nvSpPr>
          <p:cNvPr id="16" name="Text 11"/>
          <p:cNvSpPr/>
          <p:nvPr/>
        </p:nvSpPr>
        <p:spPr>
          <a:xfrm>
            <a:off x="8650224" y="2606040"/>
            <a:ext cx="24871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b="1" dirty="0">
                <a:solidFill>
                  <a:srgbClr val="0A2033"/>
                </a:solidFill>
              </a:rPr>
              <a:t>The application guides the operator through a bounded identity check — and rejects a target that falls outside the authorized CIDR.</a:t>
            </a:r>
            <a:endParaRPr lang="en-US" sz="1530" dirty="0"/>
          </a:p>
        </p:txBody>
      </p:sp>
      <p:sp>
        <p:nvSpPr>
          <p:cNvPr id="17" name="Shape 12"/>
          <p:cNvSpPr/>
          <p:nvPr/>
        </p:nvSpPr>
        <p:spPr>
          <a:xfrm>
            <a:off x="8650224" y="3895344"/>
            <a:ext cx="82296" cy="82296"/>
          </a:xfrm>
          <a:prstGeom prst="ellipse">
            <a:avLst/>
          </a:prstGeom>
          <a:solidFill>
            <a:srgbClr val="BE3D3D"/>
          </a:solidFill>
          <a:ln w="12700">
            <a:solidFill>
              <a:srgbClr val="BE3D3D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8814816" y="3822192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102A43"/>
                </a:solidFill>
              </a:rPr>
              <a:t>One exact target</a:t>
            </a:r>
            <a:endParaRPr lang="en-US" sz="990" dirty="0"/>
          </a:p>
        </p:txBody>
      </p:sp>
      <p:sp>
        <p:nvSpPr>
          <p:cNvPr id="19" name="Shape 14"/>
          <p:cNvSpPr/>
          <p:nvPr/>
        </p:nvSpPr>
        <p:spPr>
          <a:xfrm>
            <a:off x="8650224" y="4389120"/>
            <a:ext cx="82296" cy="82296"/>
          </a:xfrm>
          <a:prstGeom prst="ellipse">
            <a:avLst/>
          </a:prstGeom>
          <a:solidFill>
            <a:srgbClr val="BE3D3D"/>
          </a:solidFill>
          <a:ln w="12700">
            <a:solidFill>
              <a:srgbClr val="BE3D3D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8814816" y="4315968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102A43"/>
                </a:solidFill>
              </a:rPr>
              <a:t>One identity request</a:t>
            </a:r>
            <a:endParaRPr lang="en-US" sz="990" dirty="0"/>
          </a:p>
        </p:txBody>
      </p:sp>
      <p:sp>
        <p:nvSpPr>
          <p:cNvPr id="21" name="Shape 16"/>
          <p:cNvSpPr/>
          <p:nvPr/>
        </p:nvSpPr>
        <p:spPr>
          <a:xfrm>
            <a:off x="8650224" y="4882896"/>
            <a:ext cx="82296" cy="82296"/>
          </a:xfrm>
          <a:prstGeom prst="ellipse">
            <a:avLst/>
          </a:prstGeom>
          <a:solidFill>
            <a:srgbClr val="BE3D3D"/>
          </a:solidFill>
          <a:ln w="12700">
            <a:solidFill>
              <a:srgbClr val="BE3D3D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814816" y="4809744"/>
            <a:ext cx="2121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90" dirty="0">
                <a:solidFill>
                  <a:srgbClr val="102A43"/>
                </a:solidFill>
              </a:rPr>
              <a:t>No scan · no write</a:t>
            </a:r>
            <a:endParaRPr lang="en-US" sz="990" dirty="0"/>
          </a:p>
        </p:txBody>
      </p:sp>
      <p:sp>
        <p:nvSpPr>
          <p:cNvPr id="23" name="Shape 18"/>
          <p:cNvSpPr/>
          <p:nvPr/>
        </p:nvSpPr>
        <p:spPr>
          <a:xfrm>
            <a:off x="8650224" y="5285232"/>
            <a:ext cx="2487168" cy="603504"/>
          </a:xfrm>
          <a:prstGeom prst="roundRect">
            <a:avLst>
              <a:gd name="adj" fmla="val 10606"/>
            </a:avLst>
          </a:prstGeom>
          <a:solidFill>
            <a:srgbClr val="EAF7F3"/>
          </a:solidFill>
          <a:ln w="12700">
            <a:solidFill>
              <a:srgbClr val="EAF7F3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8814816" y="5394960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47D64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25" name="Text 20"/>
          <p:cNvSpPr/>
          <p:nvPr/>
        </p:nvSpPr>
        <p:spPr>
          <a:xfrm>
            <a:off x="10113264" y="538581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</a:rPr>
              <a:t>The customer can resolve a specific uncertainty without turning the appliance into a general-purpose scanner.</a:t>
            </a:r>
            <a:endParaRPr lang="en-US" sz="1140" dirty="0"/>
          </a:p>
        </p:txBody>
      </p:sp>
      <p:sp>
        <p:nvSpPr>
          <p:cNvPr id="26" name="Text 21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8EA0B5"/>
                </a:solidFill>
              </a:rPr>
              <a:t>P0-WATER · bounded drinking-water / wastewater assessment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A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5 — the handoff says what is ready and what is not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The assessment ends with evidence-linked findings and explicit readiness blockers — not an overconfident “all clear.”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704088" y="1581912"/>
            <a:ext cx="2074774" cy="4498848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pic>
        <p:nvPicPr>
          <p:cNvPr id="5" name="Image 0" descr="/home/runner/work/mobile-ot-security-assessment/mobile-ot-security-assessment/build/live-demo/deck-frames/f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627632"/>
            <a:ext cx="1983334" cy="44074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5216" y="6126480"/>
            <a:ext cx="23125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0758B"/>
                </a:solidFill>
              </a:rPr>
              <a:t>Evidence-linked finding</a:t>
            </a:r>
            <a:endParaRPr lang="en-US" sz="770" dirty="0"/>
          </a:p>
        </p:txBody>
      </p:sp>
      <p:sp>
        <p:nvSpPr>
          <p:cNvPr id="7" name="Shape 4"/>
          <p:cNvSpPr/>
          <p:nvPr/>
        </p:nvSpPr>
        <p:spPr>
          <a:xfrm>
            <a:off x="3264408" y="1581912"/>
            <a:ext cx="2074774" cy="4498848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pic>
        <p:nvPicPr>
          <p:cNvPr id="8" name="Image 1" descr="/home/runner/work/mobile-ot-security-assessment/mobile-ot-security-assessment/build/live-demo/deck-frames/f3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0128" y="1627632"/>
            <a:ext cx="1983334" cy="44074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145536" y="6126480"/>
            <a:ext cx="23125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60758B"/>
                </a:solidFill>
              </a:rPr>
              <a:t>Report-readiness gate</a:t>
            </a:r>
            <a:endParaRPr lang="en-US" sz="770" dirty="0"/>
          </a:p>
        </p:txBody>
      </p:sp>
      <p:sp>
        <p:nvSpPr>
          <p:cNvPr id="10" name="Shape 6"/>
          <p:cNvSpPr/>
          <p:nvPr/>
        </p:nvSpPr>
        <p:spPr>
          <a:xfrm>
            <a:off x="6144768" y="1792224"/>
            <a:ext cx="5321808" cy="4096512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19088" y="2029968"/>
            <a:ext cx="841248" cy="310896"/>
          </a:xfrm>
          <a:prstGeom prst="roundRect">
            <a:avLst>
              <a:gd name="adj" fmla="val 23529"/>
            </a:avLst>
          </a:prstGeom>
          <a:solidFill>
            <a:srgbClr val="EAF7F3"/>
          </a:solidFill>
          <a:ln w="12700">
            <a:solidFill>
              <a:srgbClr val="EAF7F3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37376" y="2093976"/>
            <a:ext cx="8046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47D64"/>
                </a:solidFill>
              </a:rPr>
              <a:t>HANDOFF</a:t>
            </a:r>
            <a:endParaRPr lang="en-US" sz="820" dirty="0"/>
          </a:p>
        </p:txBody>
      </p:sp>
      <p:sp>
        <p:nvSpPr>
          <p:cNvPr id="13" name="Text 9"/>
          <p:cNvSpPr/>
          <p:nvPr/>
        </p:nvSpPr>
        <p:spPr>
          <a:xfrm>
            <a:off x="6428232" y="26517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0A2033"/>
                </a:solidFill>
              </a:rPr>
              <a:t>What we established</a:t>
            </a:r>
            <a:endParaRPr lang="en-US" sz="1140" dirty="0"/>
          </a:p>
        </p:txBody>
      </p:sp>
      <p:sp>
        <p:nvSpPr>
          <p:cNvPr id="14" name="Text 10"/>
          <p:cNvSpPr/>
          <p:nvPr/>
        </p:nvSpPr>
        <p:spPr>
          <a:xfrm>
            <a:off x="8028432" y="265176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0758B"/>
                </a:solidFill>
              </a:rPr>
              <a:t>Reviewed inventory and evidence-backed identity claims.</a:t>
            </a:r>
            <a:endParaRPr lang="en-US" sz="103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0A2033"/>
                </a:solidFill>
              </a:rPr>
              <a:t>What needs action</a:t>
            </a:r>
            <a:endParaRPr lang="en-US" sz="1140" dirty="0"/>
          </a:p>
        </p:txBody>
      </p:sp>
      <p:sp>
        <p:nvSpPr>
          <p:cNvPr id="16" name="Text 12"/>
          <p:cNvSpPr/>
          <p:nvPr/>
        </p:nvSpPr>
        <p:spPr>
          <a:xfrm>
            <a:off x="8028432" y="361188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0758B"/>
                </a:solidFill>
              </a:rPr>
              <a:t>Findings with condition, evidence, confidence and recommendation.</a:t>
            </a:r>
            <a:endParaRPr lang="en-US" sz="1030" dirty="0"/>
          </a:p>
        </p:txBody>
      </p:sp>
      <p:sp>
        <p:nvSpPr>
          <p:cNvPr id="17" name="Text 13"/>
          <p:cNvSpPr/>
          <p:nvPr/>
        </p:nvSpPr>
        <p:spPr>
          <a:xfrm>
            <a:off x="6428232" y="457200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0A2033"/>
                </a:solidFill>
              </a:rPr>
              <a:t>What remains uncertain</a:t>
            </a:r>
            <a:endParaRPr lang="en-US" sz="1140" dirty="0"/>
          </a:p>
        </p:txBody>
      </p:sp>
      <p:sp>
        <p:nvSpPr>
          <p:cNvPr id="18" name="Text 14"/>
          <p:cNvSpPr/>
          <p:nvPr/>
        </p:nvSpPr>
        <p:spPr>
          <a:xfrm>
            <a:off x="8028432" y="4572000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0758B"/>
                </a:solidFill>
              </a:rPr>
              <a:t>Unreviewed evidence, incomplete approvals or visibility limitations.</a:t>
            </a:r>
            <a:endParaRPr lang="en-US" sz="1030" dirty="0"/>
          </a:p>
        </p:txBody>
      </p:sp>
      <p:sp>
        <p:nvSpPr>
          <p:cNvPr id="19" name="Shape 15"/>
          <p:cNvSpPr/>
          <p:nvPr/>
        </p:nvSpPr>
        <p:spPr>
          <a:xfrm>
            <a:off x="6428232" y="5257800"/>
            <a:ext cx="4462272" cy="603504"/>
          </a:xfrm>
          <a:prstGeom prst="roundRect">
            <a:avLst>
              <a:gd name="adj" fmla="val 10606"/>
            </a:avLst>
          </a:prstGeom>
          <a:solidFill>
            <a:srgbClr val="EAF7F3"/>
          </a:solidFill>
          <a:ln w="12700">
            <a:solidFill>
              <a:srgbClr val="EAF7F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592824" y="5367528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47D64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21" name="Text 17"/>
          <p:cNvSpPr/>
          <p:nvPr/>
        </p:nvSpPr>
        <p:spPr>
          <a:xfrm>
            <a:off x="7891272" y="5358384"/>
            <a:ext cx="2816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</a:rPr>
              <a:t>The customer leaves with a defensible action list instead of a pile of scan output.</a:t>
            </a:r>
            <a:endParaRPr lang="en-US" sz="1140" dirty="0"/>
          </a:p>
        </p:txBody>
      </p:sp>
      <p:sp>
        <p:nvSpPr>
          <p:cNvPr id="22" name="Text 18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8EA0B5"/>
                </a:solidFill>
              </a:rPr>
              <a:t>P0-WATER · bounded drinking-water / wastewater assessment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A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changes for the customer after the guided assessment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The benefit is not another tool in the toolbox. It is a better operating state that can be repeated.</a:t>
            </a:r>
            <a:endParaRPr lang="en-US" sz="112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447288" cy="3584448"/>
          </a:xfrm>
          <a:prstGeom prst="roundRect">
            <a:avLst>
              <a:gd name="adj" fmla="val 2122"/>
            </a:avLst>
          </a:prstGeom>
          <a:solidFill>
            <a:srgbClr val="FFF5DD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95528" y="2029968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B36A00"/>
          </a:solidFill>
          <a:ln w="12700">
            <a:solidFill>
              <a:srgbClr val="B36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3816" y="2093976"/>
            <a:ext cx="8778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BEFORE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795528" y="2697480"/>
            <a:ext cx="2788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2033"/>
                </a:solidFill>
              </a:rPr>
              <a:t>“We have an inventory.”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95528" y="3529584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But confidence depends on age, spreadsheets and tribal knowledge.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822960" y="4617720"/>
            <a:ext cx="2761488" cy="0"/>
          </a:xfrm>
          <a:prstGeom prst="line">
            <a:avLst/>
          </a:prstGeom>
          <a:noFill/>
          <a:ln w="25400">
            <a:solidFill>
              <a:srgbClr val="B36A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480060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spc="70" kern="0" dirty="0">
                <a:solidFill>
                  <a:srgbClr val="B36A00"/>
                </a:solidFill>
              </a:rPr>
              <a:t>uncertainty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4389120" y="1783080"/>
            <a:ext cx="3447288" cy="3584448"/>
          </a:xfrm>
          <a:prstGeom prst="roundRect">
            <a:avLst>
              <a:gd name="adj" fmla="val 2122"/>
            </a:avLst>
          </a:prstGeom>
          <a:solidFill>
            <a:srgbClr val="EAF3FC"/>
          </a:solidFill>
          <a:ln w="12700">
            <a:solidFill>
              <a:srgbClr val="D9E4EC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17720" y="2029968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36008" y="2093976"/>
            <a:ext cx="8778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WITH ATLAS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4617720" y="2697480"/>
            <a:ext cx="2788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2033"/>
                </a:solidFill>
              </a:rPr>
              <a:t>“We can show the evidence.”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17720" y="3529584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Expected, observed and confirmed identities live in one guided review flow.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4645152" y="4617720"/>
            <a:ext cx="2761488" cy="0"/>
          </a:xfrm>
          <a:prstGeom prst="line">
            <a:avLst/>
          </a:prstGeom>
          <a:noFill/>
          <a:ln w="25400">
            <a:solidFill>
              <a:srgbClr val="1479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0" y="480060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spc="70" kern="0" dirty="0">
                <a:solidFill>
                  <a:srgbClr val="1479D3"/>
                </a:solidFill>
              </a:rPr>
              <a:t>defensible progress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8211312" y="1783080"/>
            <a:ext cx="3447288" cy="3584448"/>
          </a:xfrm>
          <a:prstGeom prst="roundRect">
            <a:avLst>
              <a:gd name="adj" fmla="val 2122"/>
            </a:avLst>
          </a:prstGeom>
          <a:solidFill>
            <a:srgbClr val="EAF7F3"/>
          </a:solidFill>
          <a:ln w="12700">
            <a:solidFill>
              <a:srgbClr val="B6DECF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39912" y="2029968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147D64"/>
          </a:solidFill>
          <a:ln w="12700">
            <a:solidFill>
              <a:srgbClr val="147D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58200" y="2093976"/>
            <a:ext cx="87782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AFTER</a:t>
            </a:r>
            <a:endParaRPr lang="en-US" sz="820" dirty="0"/>
          </a:p>
        </p:txBody>
      </p:sp>
      <p:sp>
        <p:nvSpPr>
          <p:cNvPr id="21" name="Text 19"/>
          <p:cNvSpPr/>
          <p:nvPr/>
        </p:nvSpPr>
        <p:spPr>
          <a:xfrm>
            <a:off x="8439912" y="2697480"/>
            <a:ext cx="2788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A2033"/>
                </a:solidFill>
              </a:rPr>
              <a:t>“We know what to do next.”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8439912" y="3529584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Unknowns, conflicts, findings and blockers remain explicit and reviewable.</a:t>
            </a:r>
            <a:endParaRPr lang="en-US" sz="1120" dirty="0"/>
          </a:p>
        </p:txBody>
      </p:sp>
      <p:sp>
        <p:nvSpPr>
          <p:cNvPr id="23" name="Shape 21"/>
          <p:cNvSpPr/>
          <p:nvPr/>
        </p:nvSpPr>
        <p:spPr>
          <a:xfrm>
            <a:off x="8467344" y="4617720"/>
            <a:ext cx="2761488" cy="0"/>
          </a:xfrm>
          <a:prstGeom prst="line">
            <a:avLst/>
          </a:prstGeom>
          <a:noFill/>
          <a:ln w="25400">
            <a:solidFill>
              <a:srgbClr val="147D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39912" y="4800600"/>
            <a:ext cx="2788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spc="70" kern="0" dirty="0">
                <a:solidFill>
                  <a:srgbClr val="147D64"/>
                </a:solidFill>
              </a:rPr>
              <a:t>defensible progress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941832" y="5614416"/>
            <a:ext cx="10259568" cy="603504"/>
          </a:xfrm>
          <a:prstGeom prst="roundRect">
            <a:avLst>
              <a:gd name="adj" fmla="val 10606"/>
            </a:avLst>
          </a:prstGeom>
          <a:solidFill>
            <a:srgbClr val="EAF7F3"/>
          </a:solidFill>
          <a:ln w="12700">
            <a:solidFill>
              <a:srgbClr val="EAF7F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06424" y="5724144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47D64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27" name="Text 25"/>
          <p:cNvSpPr/>
          <p:nvPr/>
        </p:nvSpPr>
        <p:spPr>
          <a:xfrm>
            <a:off x="2404872" y="5715000"/>
            <a:ext cx="8613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</a:rPr>
              <a:t>Atlas helps the customer move from “inventory as a document” to “inventory as an evidence-backed operational picture.”</a:t>
            </a:r>
            <a:endParaRPr lang="en-US" sz="1140" dirty="0"/>
          </a:p>
        </p:txBody>
      </p:sp>
      <p:sp>
        <p:nvSpPr>
          <p:cNvPr id="28" name="Text 26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8EA0B5"/>
                </a:solidFill>
              </a:rPr>
              <a:t>P0-WATER · bounded drinking-water / wastewater assessment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5303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0A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exists today — and what the free pilot is meant to prove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0758B"/>
                </a:solidFill>
              </a:rPr>
              <a:t>We separate demonstrated software behavior from the field qualification that must happen with a real customer.</a:t>
            </a:r>
            <a:endParaRPr lang="en-US" sz="1120" dirty="0"/>
          </a:p>
        </p:txBody>
      </p:sp>
      <p:sp>
        <p:nvSpPr>
          <p:cNvPr id="4" name="Text 2"/>
          <p:cNvSpPr/>
          <p:nvPr/>
        </p:nvSpPr>
        <p:spPr>
          <a:xfrm>
            <a:off x="640080" y="168249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479D3"/>
                </a:solidFill>
              </a:rPr>
              <a:t>DEMONSTRATED TODAY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309360" y="168249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47D64"/>
                </a:solidFill>
              </a:rPr>
              <a:t>PROVED WITH THE PILOT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2029968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EAF3FC"/>
          </a:solidFill>
          <a:ln w="12700">
            <a:solidFill>
              <a:srgbClr val="C6DFF3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0392" y="214884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A2033"/>
                </a:solidFill>
              </a:rPr>
              <a:t>Guided Android workflow</a:t>
            </a:r>
            <a:endParaRPr lang="en-US" sz="1040" dirty="0"/>
          </a:p>
        </p:txBody>
      </p:sp>
      <p:sp>
        <p:nvSpPr>
          <p:cNvPr id="8" name="Text 6"/>
          <p:cNvSpPr/>
          <p:nvPr/>
        </p:nvSpPr>
        <p:spPr>
          <a:xfrm>
            <a:off x="2487168" y="2139696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0758B"/>
                </a:solidFill>
              </a:rPr>
              <a:t>Scope → collect → review → findings → report readiness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40080" y="2743200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EAF3FC"/>
          </a:solidFill>
          <a:ln w="12700">
            <a:solidFill>
              <a:srgbClr val="C6DFF3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50392" y="2862072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A2033"/>
                </a:solidFill>
              </a:rPr>
              <a:t>Passive capture/import</a:t>
            </a:r>
            <a:endParaRPr lang="en-US" sz="1040" dirty="0"/>
          </a:p>
        </p:txBody>
      </p:sp>
      <p:sp>
        <p:nvSpPr>
          <p:cNvPr id="11" name="Text 9"/>
          <p:cNvSpPr/>
          <p:nvPr/>
        </p:nvSpPr>
        <p:spPr>
          <a:xfrm>
            <a:off x="2487168" y="2852928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0758B"/>
                </a:solidFill>
              </a:rPr>
              <a:t>Bounded PCAP/PCAPNG analysis and receive-only capture path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3456432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EAF3FC"/>
          </a:solidFill>
          <a:ln w="12700">
            <a:solidFill>
              <a:srgbClr val="C6DFF3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50392" y="3575304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A2033"/>
                </a:solidFill>
              </a:rPr>
              <a:t>Evidence reasoning</a:t>
            </a:r>
            <a:endParaRPr lang="en-US" sz="1040" dirty="0"/>
          </a:p>
        </p:txBody>
      </p:sp>
      <p:sp>
        <p:nvSpPr>
          <p:cNvPr id="14" name="Text 12"/>
          <p:cNvSpPr/>
          <p:nvPr/>
        </p:nvSpPr>
        <p:spPr>
          <a:xfrm>
            <a:off x="2487168" y="3566160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0758B"/>
                </a:solidFill>
              </a:rPr>
              <a:t>Provenance, confidence, conflicts and analyst acceptance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0080" y="4169664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EAF3FC"/>
          </a:solidFill>
          <a:ln w="12700">
            <a:solidFill>
              <a:srgbClr val="C6DFF3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0392" y="4288536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A2033"/>
                </a:solidFill>
              </a:rPr>
              <a:t>Bounded active identity</a:t>
            </a:r>
            <a:endParaRPr lang="en-US" sz="1040" dirty="0"/>
          </a:p>
        </p:txBody>
      </p:sp>
      <p:sp>
        <p:nvSpPr>
          <p:cNvPr id="17" name="Text 15"/>
          <p:cNvSpPr/>
          <p:nvPr/>
        </p:nvSpPr>
        <p:spPr>
          <a:xfrm>
            <a:off x="2487168" y="4279392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0758B"/>
                </a:solidFill>
              </a:rPr>
              <a:t>One exact Modbus/TCP device-identification request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40080" y="4882896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EAF3FC"/>
          </a:solidFill>
          <a:ln w="12700">
            <a:solidFill>
              <a:srgbClr val="C6DFF3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50392" y="5001768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A2033"/>
                </a:solidFill>
              </a:rPr>
              <a:t>CI proof</a:t>
            </a:r>
            <a:endParaRPr lang="en-US" sz="1040" dirty="0"/>
          </a:p>
        </p:txBody>
      </p:sp>
      <p:sp>
        <p:nvSpPr>
          <p:cNvPr id="20" name="Text 18"/>
          <p:cNvSpPr/>
          <p:nvPr/>
        </p:nvSpPr>
        <p:spPr>
          <a:xfrm>
            <a:off x="2487168" y="4992624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0758B"/>
                </a:solidFill>
              </a:rPr>
              <a:t>API 29/35 UI journeys and emulator / virtual-SPAN tests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309360" y="2029968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EAF7F3"/>
          </a:solidFill>
          <a:ln w="12700">
            <a:solidFill>
              <a:srgbClr val="C4E4D9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19672" y="21488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A2033"/>
                </a:solidFill>
              </a:rPr>
              <a:t>Physical field fit</a:t>
            </a:r>
            <a:endParaRPr lang="en-US" sz="1040" dirty="0"/>
          </a:p>
        </p:txBody>
      </p:sp>
      <p:sp>
        <p:nvSpPr>
          <p:cNvPr id="23" name="Text 21"/>
          <p:cNvSpPr/>
          <p:nvPr/>
        </p:nvSpPr>
        <p:spPr>
          <a:xfrm>
            <a:off x="8101584" y="2139696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0758B"/>
                </a:solidFill>
              </a:rPr>
              <a:t>Phone / appliance / USB-Ethernet / SPAN-TAP behavior in the customer environment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309360" y="2743200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EAF7F3"/>
          </a:solidFill>
          <a:ln w="12700">
            <a:solidFill>
              <a:srgbClr val="C4E4D9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286207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A2033"/>
                </a:solidFill>
              </a:rPr>
              <a:t>Operational usefulness</a:t>
            </a:r>
            <a:endParaRPr lang="en-US" sz="1040" dirty="0"/>
          </a:p>
        </p:txBody>
      </p:sp>
      <p:sp>
        <p:nvSpPr>
          <p:cNvPr id="26" name="Text 24"/>
          <p:cNvSpPr/>
          <p:nvPr/>
        </p:nvSpPr>
        <p:spPr>
          <a:xfrm>
            <a:off x="8101584" y="2852928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0758B"/>
                </a:solidFill>
              </a:rPr>
              <a:t>Does the workflow reduce uncertainty for the customer’s real team?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309360" y="3456432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EAF7F3"/>
          </a:solidFill>
          <a:ln w="12700">
            <a:solidFill>
              <a:srgbClr val="C4E4D9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357530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A2033"/>
                </a:solidFill>
              </a:rPr>
              <a:t>Evidence quality</a:t>
            </a:r>
            <a:endParaRPr lang="en-US" sz="1040" dirty="0"/>
          </a:p>
        </p:txBody>
      </p:sp>
      <p:sp>
        <p:nvSpPr>
          <p:cNvPr id="29" name="Text 27"/>
          <p:cNvSpPr/>
          <p:nvPr/>
        </p:nvSpPr>
        <p:spPr>
          <a:xfrm>
            <a:off x="8101584" y="356616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0758B"/>
                </a:solidFill>
              </a:rPr>
              <a:t>Is the collected evidence sufficient for the chosen process segment?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09360" y="4169664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EAF7F3"/>
          </a:solidFill>
          <a:ln w="12700">
            <a:solidFill>
              <a:srgbClr val="C4E4D9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19672" y="428853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A2033"/>
                </a:solidFill>
              </a:rPr>
              <a:t>Handoff fit</a:t>
            </a:r>
            <a:endParaRPr lang="en-US" sz="1040" dirty="0"/>
          </a:p>
        </p:txBody>
      </p:sp>
      <p:sp>
        <p:nvSpPr>
          <p:cNvPr id="32" name="Text 30"/>
          <p:cNvSpPr/>
          <p:nvPr/>
        </p:nvSpPr>
        <p:spPr>
          <a:xfrm>
            <a:off x="8101584" y="4279392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0758B"/>
                </a:solidFill>
              </a:rPr>
              <a:t>Does the output support the customer’s review and remediation process?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309360" y="4882896"/>
            <a:ext cx="5166360" cy="548640"/>
          </a:xfrm>
          <a:prstGeom prst="roundRect">
            <a:avLst>
              <a:gd name="adj" fmla="val 13333"/>
            </a:avLst>
          </a:prstGeom>
          <a:solidFill>
            <a:srgbClr val="EAF7F3"/>
          </a:solidFill>
          <a:ln w="12700">
            <a:solidFill>
              <a:srgbClr val="C4E4D9"/>
            </a:solidFill>
            <a:prstDash val="solid"/>
          </a:ln>
          <a:effectLst>
            <a:outerShdw sx="100000" sy="100000" kx="0" ky="0" algn="bl" rotWithShape="0" blurRad="15240" dist="50800" dir="2700000">
              <a:srgbClr val="7F93A6">
                <a:alpha val="9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19672" y="500176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A2033"/>
                </a:solidFill>
              </a:rPr>
              <a:t>Adoption decision</a:t>
            </a:r>
            <a:endParaRPr lang="en-US" sz="1040" dirty="0"/>
          </a:p>
        </p:txBody>
      </p:sp>
      <p:sp>
        <p:nvSpPr>
          <p:cNvPr id="35" name="Text 33"/>
          <p:cNvSpPr/>
          <p:nvPr/>
        </p:nvSpPr>
        <p:spPr>
          <a:xfrm>
            <a:off x="8101584" y="4992624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0758B"/>
                </a:solidFill>
              </a:rPr>
              <a:t>Is the appliance valuable enough to acquire and keep?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960120" y="5760720"/>
            <a:ext cx="10241280" cy="603504"/>
          </a:xfrm>
          <a:prstGeom prst="roundRect">
            <a:avLst>
              <a:gd name="adj" fmla="val 10606"/>
            </a:avLst>
          </a:prstGeom>
          <a:solidFill>
            <a:srgbClr val="EAF7F3"/>
          </a:solidFill>
          <a:ln w="12700">
            <a:solidFill>
              <a:srgbClr val="EAF7F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24712" y="5870448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70" kern="0" dirty="0">
                <a:solidFill>
                  <a:srgbClr val="147D64"/>
                </a:solidFill>
              </a:rPr>
              <a:t>CUSTOMER BENEFIT</a:t>
            </a:r>
            <a:endParaRPr lang="en-US" sz="760" dirty="0"/>
          </a:p>
        </p:txBody>
      </p:sp>
      <p:sp>
        <p:nvSpPr>
          <p:cNvPr id="38" name="Text 36"/>
          <p:cNvSpPr/>
          <p:nvPr/>
        </p:nvSpPr>
        <p:spPr>
          <a:xfrm>
            <a:off x="2423160" y="5861304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40" b="1" dirty="0">
                <a:solidFill>
                  <a:srgbClr val="102A43"/>
                </a:solidFill>
              </a:rPr>
              <a:t>The free pilot is not a sales demo. It is the customer’s evidence for the acquisition decision.</a:t>
            </a:r>
            <a:endParaRPr lang="en-US" sz="1140" dirty="0"/>
          </a:p>
        </p:txBody>
      </p:sp>
      <p:sp>
        <p:nvSpPr>
          <p:cNvPr id="39" name="Text 37"/>
          <p:cNvSpPr/>
          <p:nvPr/>
        </p:nvSpPr>
        <p:spPr>
          <a:xfrm>
            <a:off x="548640" y="6428232"/>
            <a:ext cx="8412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8EA0B5"/>
                </a:solidFill>
              </a:rPr>
              <a:t>No production qualification is claimed before the field pilot and release gates are completed</a:t>
            </a:r>
            <a:endParaRPr lang="en-US" sz="7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37376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8EA0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58368"/>
            <a:ext cx="1234440" cy="310896"/>
          </a:xfrm>
          <a:prstGeom prst="roundRect">
            <a:avLst>
              <a:gd name="adj" fmla="val 23529"/>
            </a:avLst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722376"/>
            <a:ext cx="11978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FREE PILOT</a:t>
            </a:r>
            <a:endParaRPr lang="en-US" sz="820" dirty="0"/>
          </a:p>
        </p:txBody>
      </p:sp>
      <p:sp>
        <p:nvSpPr>
          <p:cNvPr id="5" name="Text 3"/>
          <p:cNvSpPr/>
          <p:nvPr/>
        </p:nvSpPr>
        <p:spPr>
          <a:xfrm>
            <a:off x="658368" y="1234440"/>
            <a:ext cx="6858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with one bounded segment.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Then decide from your own experience.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85800" y="28895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B6C7"/>
                </a:solidFill>
              </a:rPr>
              <a:t>What we ask from you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13232" y="3383280"/>
            <a:ext cx="82296" cy="82296"/>
          </a:xfrm>
          <a:prstGeom prst="ellipse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7824" y="3310128"/>
            <a:ext cx="4864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FFFFFF"/>
                </a:solidFill>
              </a:rPr>
              <a:t>One drinking-water or wastewater control segment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713232" y="3895344"/>
            <a:ext cx="82296" cy="82296"/>
          </a:xfrm>
          <a:prstGeom prst="ellipse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822192"/>
            <a:ext cx="4864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FFFFFF"/>
                </a:solidFill>
              </a:rPr>
              <a:t>A named operational/security sponsor and an agreed collection window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713232" y="4407408"/>
            <a:ext cx="82296" cy="82296"/>
          </a:xfrm>
          <a:prstGeom prst="ellipse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4334256"/>
            <a:ext cx="4864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FFFFFF"/>
                </a:solidFill>
              </a:rPr>
              <a:t>Written scope, exclusions and stop conditions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6903720" y="1280160"/>
            <a:ext cx="4434840" cy="4343400"/>
          </a:xfrm>
          <a:prstGeom prst="roundRect">
            <a:avLst>
              <a:gd name="adj" fmla="val 2105"/>
            </a:avLst>
          </a:prstGeom>
          <a:solidFill>
            <a:srgbClr val="123A57"/>
          </a:solidFill>
          <a:ln w="15240">
            <a:solidFill>
              <a:srgbClr val="285A7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42048" y="1664208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8FB2C8"/>
                </a:solidFill>
              </a:rPr>
              <a:t>WHAT HAPPENS NEXT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242048" y="2194560"/>
            <a:ext cx="310896" cy="310896"/>
          </a:xfrm>
          <a:prstGeom prst="ellipse">
            <a:avLst/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42048" y="226771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1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7726680" y="218541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10" dirty="0">
                <a:solidFill>
                  <a:srgbClr val="FFFFFF"/>
                </a:solidFill>
              </a:rPr>
              <a:t>We deliver and configure the appliance</a:t>
            </a:r>
            <a:endParaRPr lang="en-US" sz="1110" dirty="0"/>
          </a:p>
        </p:txBody>
      </p:sp>
      <p:sp>
        <p:nvSpPr>
          <p:cNvPr id="18" name="Shape 16"/>
          <p:cNvSpPr/>
          <p:nvPr/>
        </p:nvSpPr>
        <p:spPr>
          <a:xfrm>
            <a:off x="7242048" y="2779776"/>
            <a:ext cx="310896" cy="310896"/>
          </a:xfrm>
          <a:prstGeom prst="ellipse">
            <a:avLst/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42048" y="2852928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2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7726680" y="277063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10" dirty="0">
                <a:solidFill>
                  <a:srgbClr val="FFFFFF"/>
                </a:solidFill>
              </a:rPr>
              <a:t>We guide the first assessment and leave it with you</a:t>
            </a:r>
            <a:endParaRPr lang="en-US" sz="1110" dirty="0"/>
          </a:p>
        </p:txBody>
      </p:sp>
      <p:sp>
        <p:nvSpPr>
          <p:cNvPr id="21" name="Shape 19"/>
          <p:cNvSpPr/>
          <p:nvPr/>
        </p:nvSpPr>
        <p:spPr>
          <a:xfrm>
            <a:off x="7242048" y="3364992"/>
            <a:ext cx="310896" cy="310896"/>
          </a:xfrm>
          <a:prstGeom prst="ellipse">
            <a:avLst/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42048" y="3438144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3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7726680" y="3355848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10" dirty="0">
                <a:solidFill>
                  <a:srgbClr val="FFFFFF"/>
                </a:solidFill>
              </a:rPr>
              <a:t>You use it and judge the value in your own environment</a:t>
            </a:r>
            <a:endParaRPr lang="en-US" sz="1110" dirty="0"/>
          </a:p>
        </p:txBody>
      </p:sp>
      <p:sp>
        <p:nvSpPr>
          <p:cNvPr id="24" name="Shape 22"/>
          <p:cNvSpPr/>
          <p:nvPr/>
        </p:nvSpPr>
        <p:spPr>
          <a:xfrm>
            <a:off x="7242048" y="3950208"/>
            <a:ext cx="310896" cy="310896"/>
          </a:xfrm>
          <a:prstGeom prst="ellipse">
            <a:avLst/>
          </a:prstGeom>
          <a:solidFill>
            <a:srgbClr val="21B6C7"/>
          </a:solidFill>
          <a:ln w="12700">
            <a:solidFill>
              <a:srgbClr val="21B6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42048" y="402336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4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726680" y="3941064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10" b="1" dirty="0">
                <a:solidFill>
                  <a:srgbClr val="FFFFFF"/>
                </a:solidFill>
              </a:rPr>
              <a:t>Acquire it — or tell us to pick it up</a:t>
            </a:r>
            <a:endParaRPr lang="en-US" sz="1110" dirty="0"/>
          </a:p>
        </p:txBody>
      </p:sp>
      <p:sp>
        <p:nvSpPr>
          <p:cNvPr id="27" name="Shape 25"/>
          <p:cNvSpPr/>
          <p:nvPr/>
        </p:nvSpPr>
        <p:spPr>
          <a:xfrm>
            <a:off x="7242048" y="4535424"/>
            <a:ext cx="310896" cy="310896"/>
          </a:xfrm>
          <a:prstGeom prst="ellipse">
            <a:avLst/>
          </a:prstGeom>
          <a:solidFill>
            <a:srgbClr val="1479D3"/>
          </a:solidFill>
          <a:ln w="12700">
            <a:solidFill>
              <a:srgbClr val="1479D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42048" y="4608576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5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7726680" y="452628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10" dirty="0">
                <a:solidFill>
                  <a:srgbClr val="FFFFFF"/>
                </a:solidFill>
              </a:rPr>
              <a:t>Add consulting/support only where it helps</a:t>
            </a:r>
            <a:endParaRPr lang="en-US" sz="1110" dirty="0"/>
          </a:p>
        </p:txBody>
      </p:sp>
      <p:sp>
        <p:nvSpPr>
          <p:cNvPr id="30" name="Text 28"/>
          <p:cNvSpPr/>
          <p:nvPr/>
        </p:nvSpPr>
        <p:spPr>
          <a:xfrm>
            <a:off x="713232" y="5687568"/>
            <a:ext cx="5715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The next decision is only: which bounded segment should we use for the free pilot?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713232" y="6345936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6FA9B7"/>
                </a:solidFill>
              </a:rPr>
              <a:t>ATLAS OT SCOUT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Atlas OT Scout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Atlas OT Scout - Guided OT Visibility You Can Try Before You Buy</dc:title>
  <dc:subject>Prospect pitch: guided OT assessment appliance and free pilot</dc:subject>
  <dc:creator>Charif Mahmoudi</dc:creator>
  <cp:lastModifiedBy>Charif Mahmoudi</cp:lastModifiedBy>
  <cp:revision>1</cp:revision>
  <dcterms:created xsi:type="dcterms:W3CDTF">2026-08-31T22:30:30Z</dcterms:created>
  <dcterms:modified xsi:type="dcterms:W3CDTF">2026-08-31T22:30:30Z</dcterms:modified>
</cp:coreProperties>
</file>