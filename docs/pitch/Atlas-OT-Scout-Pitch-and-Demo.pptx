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docs/user-guide/screenshots/03-site-dashboard-api35.png
Source: docs/demo/atlas-ot-scout-emulator-demo.mp4
Open with the field decision, not the scanning technology.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
Source: docs/poc/WATER-WASTEWATER-POC.md
Sell defensible decisions, not “scanning.”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MainActivity guided workflow
The video must never jump to a screen without showing the decision that leads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docs/user-guide/screenshots/04-collection-methods-api35.png
Source: docs/user-guide/screenshots/06-live-span-result-api35.png
Source: MainActivity.renderPassiveResult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docs/user-guide/screenshots/05-active-authorization-api35.png
Source: docs/user-guide/screenshots/06-out-of-scope-blocked-api35.png
The out-of-scope request is intentionally shown in the live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docs/user-guide/screenshots/09-active-pymodbus-api35.png
Source: Android safety CI / live-demo PyModbus testbed
Do not imply vulnerability scanning or register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docs/user-guide/screenshots/07-asset-inventory-api35.png
Source: docs/user-guide/screenshots/10-guided-report-readiness-api35.png
Source: MainActivity.renderFindings / renderReportReadiness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docs/wiki/Morocco-Market.md
Source: docs/accounts/README.md
Do not broaden the commercial target beyond water/liquid sanitation.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IMPLEMENTATION.md
Source: .github/workflows/android-ci.yml
Source: docs/architecture/DEDICATED-ANDROID-APPLIANCE.md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docs/poc/WATER-WASTEWATER-POC.md
Source: ROADMAP.md
Source: docs/accounts/PORTFOLIO-SYNTHESIS.md
A successful pilot earns the next investment in physical qualification.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62748A"/>
                </a:solidFill>
              </a:rPr>
              <a:t>ATLAS OT SCOUT  /  P0-WATER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harifmahmoudi/mobile-ot-security-assessment/blob/main/docs/demo/atlas-ot-scout-emulator-demo.mp4" TargetMode="External"/><Relationship Id="rId2" Type="http://schemas.openxmlformats.org/officeDocument/2006/relationships/hyperlink" Target="https://github.com/charifmahmoudi/mobile-ot-security-assessment/blob/main/docs/demo/atlas-ot-scout-emulator-demo.mp4" TargetMode="External"/><Relationship Id="rId3" Type="http://schemas.openxmlformats.org/officeDocument/2006/relationships/hyperlink" Target="https://github.com/charifmahmoudi/mobile-ot-security-assessment/blob/main/docs/demo/atlas-ot-scout-emulator-demo.mp4" TargetMode="External"/><Relationship Id="rId4" Type="http://schemas.openxmlformats.org/officeDocument/2006/relationships/image" Target="../media/image-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harifmahmoudi/mobile-ot-security-assessment/blob/main/docs/demo/atlas-ot-scout-emulator-demo.mp4" TargetMode="External"/><Relationship Id="rId2" Type="http://schemas.openxmlformats.org/officeDocument/2006/relationships/hyperlink" Target="https://github.com/charifmahmoudi/mobile-ot-security-assessment/blob/main/docs/demo/atlas-ot-scout-emulator-demo.mp4" TargetMode="External"/><Relationship Id="rId3" Type="http://schemas.openxmlformats.org/officeDocument/2006/relationships/hyperlink" Target="https://github.com/charifmahmoudi/mobile-ot-security-assessment/blob/main/docs/demo/atlas-ot-scout-emulator-demo.mp4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60350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1B6C7"/>
                </a:solidFill>
              </a:rPr>
              <a:t>P0-WATER / BUYER WALKTHROUGH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21792" y="1060704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what changed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you sign off.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40080" y="2779776"/>
            <a:ext cx="5806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5E2EE"/>
                </a:solidFill>
              </a:rPr>
              <a:t>Turn a bounded water-OT evidence window into a reviewable inventory, explicit findings and a controlled handoff - without pretending scanner output is truth.</a:t>
            </a:r>
            <a:endParaRPr lang="en-US" sz="1500" dirty="0"/>
          </a:p>
        </p:txBody>
      </p:sp>
      <p:sp>
        <p:nvSpPr>
          <p:cNvPr id="6" name="Shape 4">
            <a:hlinkClick r:id="rId1" tooltip=""/>
          </p:cNvPr>
          <p:cNvSpPr/>
          <p:nvPr/>
        </p:nvSpPr>
        <p:spPr>
          <a:xfrm>
            <a:off x="640080" y="3986784"/>
            <a:ext cx="3246120" cy="530352"/>
          </a:xfrm>
          <a:prstGeom prst="roundRect">
            <a:avLst>
              <a:gd name="adj" fmla="val 13793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95528" y="4105656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300" dirty="0"/>
          </a:p>
        </p:txBody>
      </p:sp>
      <p:sp>
        <p:nvSpPr>
          <p:cNvPr id="8" name="Text 6">
            <a:hlinkClick r:id="rId3" tooltip=""/>
          </p:cNvPr>
          <p:cNvSpPr/>
          <p:nvPr/>
        </p:nvSpPr>
        <p:spPr>
          <a:xfrm>
            <a:off x="1143000" y="41422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u="sng" spc="70" kern="0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ACTUAL USER STORY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640080" y="4645152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3C7"/>
                </a:solidFill>
              </a:rPr>
              <a:t>Continuous Android 15 screen recording. Same application, same user story.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654796" y="717804"/>
            <a:ext cx="2495398" cy="5422392"/>
          </a:xfrm>
          <a:prstGeom prst="roundRect">
            <a:avLst>
              <a:gd name="adj" fmla="val 2565"/>
            </a:avLst>
          </a:prstGeom>
          <a:solidFill>
            <a:srgbClr val="FFFFFF"/>
          </a:solidFill>
          <a:ln w="12700">
            <a:solidFill>
              <a:srgbClr val="21B6C7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11" name="Image 0" descr="/home/runner/work/mobile-ot-security-assessment/mobile-ot-security-assessment/docs/user-guide/screenshots/03-site-dashboard-api3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768096"/>
            <a:ext cx="2394814" cy="53218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67928" y="6199632"/>
            <a:ext cx="26691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Actual sample water-treatment workspace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40080" y="62727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FA9B7"/>
                </a:solidFill>
              </a:rPr>
              <a:t>ATLAS OT SCOUT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costly failure is signing off with uncertainty.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A useful field instrument closes decision gaps instead of maximizing device counts.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A43"/>
                </a:solidFill>
              </a:rPr>
              <a:t>At the end of a site visit, an authorized assessor still has to answer: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51460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5237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01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74980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239"/>
                </a:solidFill>
              </a:rPr>
              <a:t>What changed?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Which identities differ from baseline or remain unknown?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4256" y="2267712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EAF3FC"/>
          </a:solidFill>
          <a:ln w="12700">
            <a:solidFill>
              <a:srgbClr val="BBD8F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35424" y="251460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35424" y="25237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02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4535424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239"/>
                </a:solidFill>
              </a:rPr>
              <a:t>What can I defend?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35424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Which claims retain evidence, provenance and confidence?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19872" y="2267712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51460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5237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03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239"/>
                </a:solidFill>
              </a:rPr>
              <a:t>What is safe to claim?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Which conclusions remain blocked by visibility or approval gaps?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98348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0B2239"/>
          </a:solidFill>
          <a:ln w="12700">
            <a:solidFill>
              <a:srgbClr val="0B22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23036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A useful answer can be “not enough evidence yet” - as long as the missing evidence is explicit.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user story. Five decisions.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deck and video now follow the assessor workflow in sequence.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2212848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7512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Context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67512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exact site/process area is authorized?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87752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25496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90088" y="2212848"/>
            <a:ext cx="438912" cy="438912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90088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90088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Collect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90088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least-intrusive evidence closes the gap?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10328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148072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A9E5EA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12664" y="2212848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12664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12664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12664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Which observations are supported enough to accept?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32904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70648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35240" y="2212848"/>
            <a:ext cx="438912" cy="438912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35240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35240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Reason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35240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condition can be defended?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555480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9793224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57816" y="2212848"/>
            <a:ext cx="438912" cy="438912"/>
          </a:xfrm>
          <a:prstGeom prst="ellipse">
            <a:avLst/>
          </a:prstGeom>
          <a:solidFill>
            <a:srgbClr val="15344F"/>
          </a:solidFill>
          <a:ln w="12700">
            <a:solidFill>
              <a:srgbClr val="1534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57816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957816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Handoff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57816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is ready - and what remains blocked?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828800" y="5504688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239"/>
                </a:solidFill>
              </a:rPr>
              <a:t>The user story is the product: every screen exists to support one decision.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Passive evidence is not inventory until an analyst accepts it.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This is the core trust behavior: observations enter a review queue before they change the model.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08076" y="1568196"/>
            <a:ext cx="2088032" cy="4517136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5" name="Image 0" descr="/home/runner/work/mobile-ot-security-assessment/mobile-ot-security-assessment/docs/user-guide/screenshots/04-collection-methods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18488"/>
            <a:ext cx="1987448" cy="44165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" y="6144768"/>
            <a:ext cx="2261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Choose least-intrusive method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131820" y="1568196"/>
            <a:ext cx="2088032" cy="4517136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21B6C7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8" name="Image 1" descr="/home/runner/work/mobile-ot-security-assessment/mobile-ot-security-assessment/docs/user-guide/screenshots/06-live-span-result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112" y="1618488"/>
            <a:ext cx="1987448" cy="44165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44952" y="6144768"/>
            <a:ext cx="2261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Review and accept observations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5870448" y="1719072"/>
            <a:ext cx="5650992" cy="4370832"/>
          </a:xfrm>
          <a:prstGeom prst="roundRect">
            <a:avLst>
              <a:gd name="adj" fmla="val 1464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172200" y="1993392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172200" y="2002536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USER STORY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172200" y="2523744"/>
            <a:ext cx="4754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2239"/>
                </a:solidFill>
              </a:rPr>
              <a:t>“I need a current communication picture without touching the process.”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199632" y="3538728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64224" y="3456432"/>
            <a:ext cx="45902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Choose SPAN/TAP or an approved capture before active methods.</a:t>
            </a:r>
            <a:endParaRPr lang="en-US" sz="1120" dirty="0"/>
          </a:p>
        </p:txBody>
      </p:sp>
      <p:sp>
        <p:nvSpPr>
          <p:cNvPr id="16" name="Shape 12"/>
          <p:cNvSpPr/>
          <p:nvPr/>
        </p:nvSpPr>
        <p:spPr>
          <a:xfrm>
            <a:off x="6199632" y="4105656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64224" y="4023360"/>
            <a:ext cx="45902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Hash and parse the bounded evidence window.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6199632" y="4672584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364224" y="4590288"/>
            <a:ext cx="45902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Accept only the observations the analyst is prepared to defend.</a:t>
            </a:r>
            <a:endParaRPr lang="en-US" sz="1120" dirty="0"/>
          </a:p>
        </p:txBody>
      </p:sp>
      <p:sp>
        <p:nvSpPr>
          <p:cNvPr id="20" name="Shape 16"/>
          <p:cNvSpPr/>
          <p:nvPr/>
        </p:nvSpPr>
        <p:spPr>
          <a:xfrm>
            <a:off x="6172200" y="5321808"/>
            <a:ext cx="4736592" cy="438912"/>
          </a:xfrm>
          <a:prstGeom prst="roundRect">
            <a:avLst>
              <a:gd name="adj" fmla="val 10417"/>
            </a:avLst>
          </a:prstGeom>
          <a:solidFill>
            <a:srgbClr val="E6F7F4"/>
          </a:solidFill>
          <a:ln w="12700">
            <a:solidFill>
              <a:srgbClr val="BDE5D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27648" y="5449824"/>
            <a:ext cx="4425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7D64"/>
                </a:solidFill>
              </a:rPr>
              <a:t>No acceptance → no inventory mutation.</a:t>
            </a:r>
            <a:endParaRPr lang="en-US" sz="1060" dirty="0"/>
          </a:p>
        </p:txBody>
      </p:sp>
      <p:sp>
        <p:nvSpPr>
          <p:cNvPr id="22" name="Text 18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Active behavior fails closed before a packet is sent.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demo deliberately asks for an out-of-scope target first.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62940" y="1522476"/>
            <a:ext cx="2190902" cy="4745736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5" name="Image 0" descr="/home/runner/work/mobile-ot-security-assessment/mobile-ot-security-assessment/docs/user-guide/screenshots/05-active-authorization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2090318" cy="46451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76072" y="6327648"/>
            <a:ext cx="23646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Exact work order, target and CIDR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332988" y="1522476"/>
            <a:ext cx="2190902" cy="4745736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12700">
            <a:solidFill>
              <a:srgbClr val="B93B3B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8" name="Image 1" descr="/home/runner/work/mobile-ot-security-assessment/mobile-ot-security-assessment/docs/user-guide/screenshots/06-out-of-scope-blocked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572768"/>
            <a:ext cx="2090318" cy="46451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46120" y="6327648"/>
            <a:ext cx="23646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Local scope rejection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6144768" y="1764792"/>
            <a:ext cx="5376672" cy="4242816"/>
          </a:xfrm>
          <a:prstGeom prst="roundRect">
            <a:avLst>
              <a:gd name="adj" fmla="val 1509"/>
            </a:avLst>
          </a:prstGeom>
          <a:solidFill>
            <a:srgbClr val="FCEAEA"/>
          </a:solidFill>
          <a:ln w="12700">
            <a:solidFill>
              <a:srgbClr val="F0B8B8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46520" y="2020824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8D7D7"/>
          </a:solidFill>
          <a:ln w="12700">
            <a:solidFill>
              <a:srgbClr val="F8D7D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202996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93B3B"/>
                </a:solidFill>
              </a:rPr>
              <a:t>FAIL-CLOSED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46520" y="26151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3B3B"/>
                </a:solidFill>
              </a:rPr>
              <a:t>192.0.2.5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446520" y="3090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48A"/>
                </a:solidFill>
              </a:rPr>
              <a:t>is rejected against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46520" y="347472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239"/>
                </a:solidFill>
              </a:rPr>
              <a:t>10.0.2.0/24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6446520" y="4306824"/>
            <a:ext cx="82296" cy="82296"/>
          </a:xfrm>
          <a:prstGeom prst="ellipse">
            <a:avLst/>
          </a:prstGeom>
          <a:solidFill>
            <a:srgbClr val="B93B3B"/>
          </a:solidFill>
          <a:ln w="12700">
            <a:solidFill>
              <a:srgbClr val="B93B3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1112" y="4224528"/>
            <a:ext cx="4361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Validation happens in the Case App before broker execution.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6446520" y="4910328"/>
            <a:ext cx="82296" cy="82296"/>
          </a:xfrm>
          <a:prstGeom prst="ellipse">
            <a:avLst/>
          </a:prstGeom>
          <a:solidFill>
            <a:srgbClr val="B93B3B"/>
          </a:solidFill>
          <a:ln w="12700">
            <a:solidFill>
              <a:srgbClr val="B93B3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611112" y="4828032"/>
            <a:ext cx="4361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The application does not broaden scope to make a test pass.</a:t>
            </a:r>
            <a:endParaRPr lang="en-US" sz="1120" dirty="0"/>
          </a:p>
        </p:txBody>
      </p:sp>
      <p:sp>
        <p:nvSpPr>
          <p:cNvPr id="20" name="Text 16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ask one exact identity question - and stop.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controlled CI target answers a bounded Modbus basic-device-identification request.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21792" y="1682496"/>
            <a:ext cx="1828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739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79D3"/>
                </a:solidFill>
              </a:rPr>
              <a:t>10.0.2.2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62748A"/>
                </a:solidFill>
              </a:rPr>
              <a:t>EXACT TARGET</a:t>
            </a:r>
            <a:endParaRPr lang="en-US" sz="840" dirty="0"/>
          </a:p>
        </p:txBody>
      </p:sp>
      <p:sp>
        <p:nvSpPr>
          <p:cNvPr id="7" name="Shape 5"/>
          <p:cNvSpPr/>
          <p:nvPr/>
        </p:nvSpPr>
        <p:spPr>
          <a:xfrm>
            <a:off x="2651760" y="1682496"/>
            <a:ext cx="1828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0" y="17739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8D8A"/>
                </a:solidFill>
              </a:rPr>
              <a:t>FC 43 / 14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743200" y="2176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62748A"/>
                </a:solidFill>
              </a:rPr>
              <a:t>ONE OPERATION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4681728" y="1682496"/>
            <a:ext cx="1828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73168" y="17739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7D64"/>
                </a:solidFill>
              </a:rPr>
              <a:t>0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73168" y="2176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62748A"/>
                </a:solidFill>
              </a:rPr>
              <a:t>REGISTER READS / WRITES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621792" y="2834640"/>
            <a:ext cx="5797296" cy="2578608"/>
          </a:xfrm>
          <a:prstGeom prst="roundRect">
            <a:avLst>
              <a:gd name="adj" fmla="val 2482"/>
            </a:avLst>
          </a:prstGeom>
          <a:solidFill>
            <a:srgbClr val="0B2239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3108960"/>
            <a:ext cx="1700784" cy="310896"/>
          </a:xfrm>
          <a:prstGeom prst="roundRect">
            <a:avLst>
              <a:gd name="adj" fmla="val 23529"/>
            </a:avLst>
          </a:prstGeom>
          <a:solidFill>
            <a:srgbClr val="23465E"/>
          </a:solidFill>
          <a:ln w="12700">
            <a:solidFill>
              <a:srgbClr val="2346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11810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B6C7"/>
                </a:solidFill>
              </a:rPr>
              <a:t>CONTROLLED ACTIVE PATH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932688" y="3730752"/>
            <a:ext cx="5166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Case App  →  signed one-use grant  →  Network Broker  →  TCP/502  →  PyModbus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45152"/>
            <a:ext cx="5102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C9D8E5"/>
                </a:solidFill>
              </a:rPr>
              <a:t>The result carries the evidence needed to decide whether the identity can be accepted into inventory.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557516" y="1504188"/>
            <a:ext cx="2252624" cy="4882896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12700">
            <a:solidFill>
              <a:srgbClr val="21B6C7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19" name="Image 0" descr="/home/runner/work/mobile-ot-security-assessment/mobile-ot-security-assessment/docs/user-guide/screenshots/09-active-pymodbus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1554480"/>
            <a:ext cx="2152040" cy="478231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70648" y="6446520"/>
            <a:ext cx="242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Actual PyModbus CI identity result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observations to a defensible handoff.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product preserves uncertainty instead of hiding it.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08076" y="1577340"/>
            <a:ext cx="2083918" cy="4507992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5" name="Image 0" descr="/home/runner/work/mobile-ot-security-assessment/mobile-ot-security-assessment/docs/user-guide/screenshots/07-asset-inventory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27632"/>
            <a:ext cx="1983334" cy="4407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" y="6144768"/>
            <a:ext cx="2257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Evidence-backed inventory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104388" y="1577340"/>
            <a:ext cx="2083918" cy="4507992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8" name="Image 1" descr="/home/runner/work/mobile-ot-security-assessment/mobile-ot-security-assessment/docs/user-guide/screenshots/10-guided-report-readiness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627632"/>
            <a:ext cx="1983334" cy="44074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17520" y="6144768"/>
            <a:ext cx="2257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Explicit report blockers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5833872" y="1737360"/>
            <a:ext cx="5715000" cy="4315968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144768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B2239"/>
                </a:solidFill>
              </a:rPr>
              <a:t>Customer-facing outcome</a:t>
            </a:r>
            <a:endParaRPr lang="en-US" sz="1850" dirty="0"/>
          </a:p>
        </p:txBody>
      </p:sp>
      <p:sp>
        <p:nvSpPr>
          <p:cNvPr id="12" name="Shape 8"/>
          <p:cNvSpPr/>
          <p:nvPr/>
        </p:nvSpPr>
        <p:spPr>
          <a:xfrm>
            <a:off x="6163056" y="2697480"/>
            <a:ext cx="219456" cy="21945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10528" y="265176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Inventory delta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046720" y="26243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Corroborated, unexpected, missing-from-evidence and unresolved identities.</a:t>
            </a:r>
            <a:endParaRPr lang="en-US" sz="960" dirty="0"/>
          </a:p>
        </p:txBody>
      </p:sp>
      <p:sp>
        <p:nvSpPr>
          <p:cNvPr id="15" name="Shape 11"/>
          <p:cNvSpPr/>
          <p:nvPr/>
        </p:nvSpPr>
        <p:spPr>
          <a:xfrm>
            <a:off x="6163056" y="3447288"/>
            <a:ext cx="219456" cy="21945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10528" y="340156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Provenance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046720" y="3374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What was observed, where it came from and confidence.</a:t>
            </a:r>
            <a:endParaRPr lang="en-US" sz="960" dirty="0"/>
          </a:p>
        </p:txBody>
      </p:sp>
      <p:sp>
        <p:nvSpPr>
          <p:cNvPr id="18" name="Shape 14"/>
          <p:cNvSpPr/>
          <p:nvPr/>
        </p:nvSpPr>
        <p:spPr>
          <a:xfrm>
            <a:off x="6163056" y="4197096"/>
            <a:ext cx="219456" cy="21945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510528" y="415137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Finding drafts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8046720" y="41239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Condition, evidence, context and required validation.</a:t>
            </a:r>
            <a:endParaRPr lang="en-US" sz="960" dirty="0"/>
          </a:p>
        </p:txBody>
      </p:sp>
      <p:sp>
        <p:nvSpPr>
          <p:cNvPr id="21" name="Shape 17"/>
          <p:cNvSpPr/>
          <p:nvPr/>
        </p:nvSpPr>
        <p:spPr>
          <a:xfrm>
            <a:off x="6163056" y="4946904"/>
            <a:ext cx="219456" cy="21945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510528" y="490118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Readiness blockers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8046720" y="487375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Authorization and independent review remain visible.</a:t>
            </a:r>
            <a:endParaRPr lang="en-US" sz="960" dirty="0"/>
          </a:p>
        </p:txBody>
      </p:sp>
      <p:sp>
        <p:nvSpPr>
          <p:cNvPr id="24" name="Shape 20"/>
          <p:cNvSpPr/>
          <p:nvPr/>
        </p:nvSpPr>
        <p:spPr>
          <a:xfrm>
            <a:off x="6144768" y="5449824"/>
            <a:ext cx="4956048" cy="384048"/>
          </a:xfrm>
          <a:prstGeom prst="roundRect">
            <a:avLst>
              <a:gd name="adj" fmla="val 11905"/>
            </a:avLst>
          </a:prstGeom>
          <a:solidFill>
            <a:srgbClr val="FFF5DD"/>
          </a:solidFill>
          <a:ln w="12700">
            <a:solidFill>
              <a:srgbClr val="F0D59B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309360" y="5559552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B36A00"/>
                </a:solidFill>
              </a:rPr>
              <a:t>A blocked report is useful when the evidence is not ready.</a:t>
            </a:r>
            <a:endParaRPr lang="en-US" sz="940" dirty="0"/>
          </a:p>
        </p:txBody>
      </p:sp>
      <p:sp>
        <p:nvSpPr>
          <p:cNvPr id="26" name="Text 22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Built for a Moroccan water-utility pilot - not generic industry.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commercial scope now matches P0-WATER: drinking water and wastewater operations only.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662940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99339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239"/>
                </a:solidFill>
              </a:rPr>
              <a:t>Water operating contexts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59536" y="2670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67919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Treatment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139696" y="26974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process/control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831336" y="2670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31336" y="267919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Pumping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5111496" y="26974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stations/boosters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59536" y="337413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33832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Reservoirs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139696" y="340156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storage/transfer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31336" y="337413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31336" y="33832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Telemetry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5111496" y="340156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remote monitoring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59536" y="407822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District metering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139696" y="410565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flow/pressure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31336" y="407822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31336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Leak reduction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5111496" y="410565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instrumentation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" y="47823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479145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Wastewater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139696" y="480974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collection/treatment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98080" y="1719072"/>
            <a:ext cx="4114800" cy="4343400"/>
          </a:xfrm>
          <a:prstGeom prst="roundRect">
            <a:avLst>
              <a:gd name="adj" fmla="val 1556"/>
            </a:avLst>
          </a:prstGeom>
          <a:solidFill>
            <a:srgbClr val="0B2239"/>
          </a:solidFill>
          <a:ln w="12700">
            <a:solidFill>
              <a:srgbClr val="0B2239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836408" y="1993392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244B63"/>
          </a:solidFill>
          <a:ln w="12700">
            <a:solidFill>
              <a:srgbClr val="244B6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36408" y="2002536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B6C7"/>
                </a:solidFill>
              </a:rPr>
              <a:t>BEACHHEAD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836408" y="26700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B6C7"/>
                </a:solidFill>
              </a:rPr>
              <a:t>ONEE - Water Branch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836408" y="31272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2DFEA"/>
                </a:solidFill>
              </a:rPr>
              <a:t>National water production, transmission and sanitation programs.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7836408" y="3977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Regional multiservice companies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836408" y="43891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2DFEA"/>
                </a:solidFill>
              </a:rPr>
              <a:t>Only their drinking-water and liquid-sanitation responsibilities are in scope.</a:t>
            </a:r>
            <a:endParaRPr lang="en-US" sz="1040" dirty="0"/>
          </a:p>
        </p:txBody>
      </p:sp>
      <p:sp>
        <p:nvSpPr>
          <p:cNvPr id="34" name="Text 32"/>
          <p:cNvSpPr/>
          <p:nvPr/>
        </p:nvSpPr>
        <p:spPr>
          <a:xfrm>
            <a:off x="7836408" y="521208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FC5D8"/>
                </a:solidFill>
              </a:rPr>
              <a:t>Entry offer: one bounded, passive-first evidence baseline.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Active GTM excludes electricity, automotive, aerospace, mining, ports, phosphate and other industries.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today - and what is not.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Credibility comes from stating the proof boundary before the buyer asks.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5449824" cy="4462272"/>
          </a:xfrm>
          <a:prstGeom prst="roundRect">
            <a:avLst>
              <a:gd name="adj" fmla="val 1434"/>
            </a:avLst>
          </a:prstGeom>
          <a:solidFill>
            <a:srgbClr val="F4FBF9"/>
          </a:solidFill>
          <a:ln w="12700">
            <a:solidFill>
              <a:srgbClr val="BDE5D9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75104"/>
            <a:ext cx="1847088" cy="310896"/>
          </a:xfrm>
          <a:prstGeom prst="roundRect">
            <a:avLst>
              <a:gd name="adj" fmla="val 23529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84248"/>
            <a:ext cx="1847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D64"/>
                </a:solidFill>
              </a:rPr>
              <a:t>PROVEN IN CI / EMULATION</a:t>
            </a:r>
            <a:endParaRPr lang="en-US" sz="820" dirty="0"/>
          </a:p>
        </p:txBody>
      </p:sp>
      <p:sp>
        <p:nvSpPr>
          <p:cNvPr id="7" name="Shape 5"/>
          <p:cNvSpPr/>
          <p:nvPr/>
        </p:nvSpPr>
        <p:spPr>
          <a:xfrm>
            <a:off x="896112" y="2679192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2596896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Android API 29 + API 35 guided journeys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96112" y="3200400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118104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PCAP / PCAPNG passive analysis with provenance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896112" y="3721608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3639312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Receive-only capture boundary exercised in CI emulation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896112" y="4242816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4160520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One signed Modbus basic identity operation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96112" y="4764024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4681728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Interoperability: PyModbus, modbus-tk and Conpot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896112" y="5285232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02936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Review-first inventory, findings and readiness UI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6199632" y="1719072"/>
            <a:ext cx="5431536" cy="4462272"/>
          </a:xfrm>
          <a:prstGeom prst="roundRect">
            <a:avLst>
              <a:gd name="adj" fmla="val 1434"/>
            </a:avLst>
          </a:prstGeom>
          <a:solidFill>
            <a:srgbClr val="FFF9EE"/>
          </a:solidFill>
          <a:ln w="12700">
            <a:solidFill>
              <a:srgbClr val="ECD6AB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01384" y="197510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01384" y="1984248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36A00"/>
                </a:solidFill>
              </a:rPr>
              <a:t>NOT YET QUALIFIED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528816" y="2679192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596896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Physical Samsung / custom appliance image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528816" y="3200400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118104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USB-Ethernet + physical SPAN/TAP compatibility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6528816" y="3721608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93408" y="3639312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Packet loss and behavior at production rates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6528816" y="4242816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93408" y="4160520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Real PLC firmware and production OT networks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6528816" y="4764024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93408" y="4681728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Encrypted multi-user case vault + reviewer signature</a:t>
            </a:r>
            <a:endParaRPr lang="en-US" sz="1120" dirty="0"/>
          </a:p>
        </p:txBody>
      </p:sp>
      <p:sp>
        <p:nvSpPr>
          <p:cNvPr id="32" name="Shape 30"/>
          <p:cNvSpPr/>
          <p:nvPr/>
        </p:nvSpPr>
        <p:spPr>
          <a:xfrm>
            <a:off x="6528816" y="5285232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93408" y="5202936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Deterministic signed final report package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3520440" y="5632704"/>
            <a:ext cx="5138928" cy="402336"/>
          </a:xfrm>
          <a:prstGeom prst="roundRect">
            <a:avLst>
              <a:gd name="adj" fmla="val 13636"/>
            </a:avLst>
          </a:prstGeom>
          <a:solidFill>
            <a:srgbClr val="0B2239"/>
          </a:solidFill>
          <a:ln w="12700">
            <a:solidFill>
              <a:srgbClr val="0B223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94176" y="5742432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</a:rPr>
              <a:t>The pilot exists to close the physical-field qualification gap.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5760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1B6C7"/>
                </a:solidFill>
              </a:rPr>
              <a:t>THE PILOT ASK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21792" y="987552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one bounded water segment.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D1DEEA"/>
                </a:solidFill>
              </a:rPr>
              <a:t>Not a plant-wide scan. Not compliance certification. A witnessed test of whether the evidence pack helps an authorized assessor make a better decision.</a:t>
            </a:r>
            <a:endParaRPr lang="en-US" sz="1380" dirty="0"/>
          </a:p>
        </p:txBody>
      </p:sp>
      <p:sp>
        <p:nvSpPr>
          <p:cNvPr id="6" name="Shape 4"/>
          <p:cNvSpPr/>
          <p:nvPr/>
        </p:nvSpPr>
        <p:spPr>
          <a:xfrm>
            <a:off x="658368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2304A"/>
          </a:solidFill>
          <a:ln w="12700">
            <a:solidFill>
              <a:srgbClr val="244B6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Scope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Name one treatment, pumping or wastewater control segment.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3456432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2304A"/>
          </a:solidFill>
          <a:ln w="12700">
            <a:solidFill>
              <a:srgbClr val="244B6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69664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Baseline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639312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Use approved passive evidence first.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254496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2304A"/>
          </a:solidFill>
          <a:ln w="12700">
            <a:solidFill>
              <a:srgbClr val="244B6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19088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67728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Close a gap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37376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Run one exact active identity request only when needed.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052560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83A55"/>
          </a:solidFill>
          <a:ln w="12700">
            <a:solidFill>
              <a:srgbClr val="2B617D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217152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7152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765792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Review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235440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Judge inventory delta, evidence quality and remaining blockers.</a:t>
            </a:r>
            <a:endParaRPr lang="en-US" sz="960" dirty="0"/>
          </a:p>
        </p:txBody>
      </p:sp>
      <p:sp>
        <p:nvSpPr>
          <p:cNvPr id="26" name="Shape 24">
            <a:hlinkClick r:id="rId1" tooltip=""/>
          </p:cNvPr>
          <p:cNvSpPr/>
          <p:nvPr/>
        </p:nvSpPr>
        <p:spPr>
          <a:xfrm>
            <a:off x="658368" y="5285232"/>
            <a:ext cx="3657600" cy="530352"/>
          </a:xfrm>
          <a:prstGeom prst="roundRect">
            <a:avLst>
              <a:gd name="adj" fmla="val 13793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7" name="Text 25">
            <a:hlinkClick r:id="rId2" tooltip=""/>
          </p:cNvPr>
          <p:cNvSpPr/>
          <p:nvPr/>
        </p:nvSpPr>
        <p:spPr>
          <a:xfrm>
            <a:off x="813816" y="5404104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300" dirty="0"/>
          </a:p>
        </p:txBody>
      </p:sp>
      <p:sp>
        <p:nvSpPr>
          <p:cNvPr id="28" name="Text 26">
            <a:hlinkClick r:id="rId3" tooltip=""/>
          </p:cNvPr>
          <p:cNvSpPr/>
          <p:nvPr/>
        </p:nvSpPr>
        <p:spPr>
          <a:xfrm>
            <a:off x="1161288" y="54406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u="sng" spc="70" kern="0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ACTUAL USER STORY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6675120" y="52303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1B6C7"/>
                </a:solidFill>
              </a:rPr>
              <a:t>Decision after the pilot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675120" y="5522976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FFFFFF"/>
                </a:solidFill>
              </a:rPr>
              <a:t>Is the evidence good enough to justify physical hardware qualification and a controlled field evaluation?</a:t>
            </a:r>
            <a:endParaRPr lang="en-US" sz="1440" dirty="0"/>
          </a:p>
        </p:txBody>
      </p:sp>
      <p:sp>
        <p:nvSpPr>
          <p:cNvPr id="31" name="Text 29"/>
          <p:cNvSpPr/>
          <p:nvPr/>
        </p:nvSpPr>
        <p:spPr>
          <a:xfrm>
            <a:off x="640080" y="6309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20" kern="0" dirty="0">
                <a:solidFill>
                  <a:srgbClr val="6FA9B7"/>
                </a:solidFill>
              </a:rPr>
              <a:t>ATLAS OT SCOUT  /  P0-WATER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Atlas OT Scout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OT Scout - Water OT Evidence You Can Defend</dc:title>
  <dc:subject>P0-WATER buyer pitch and actual user-story demonstration</dc:subject>
  <dc:creator>Charif Mahmoudi</dc:creator>
  <cp:lastModifiedBy>Charif Mahmoudi</cp:lastModifiedBy>
  <cp:revision>1</cp:revision>
  <dcterms:created xsi:type="dcterms:W3CDTF">2026-08-31T19:52:52Z</dcterms:created>
  <dcterms:modified xsi:type="dcterms:W3CDTF">2026-08-31T19:52:52Z</dcterms:modified>
</cp:coreProperties>
</file>